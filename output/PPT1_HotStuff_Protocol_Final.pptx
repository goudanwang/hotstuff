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c215d0ea60452d" /><Relationship Type="http://schemas.openxmlformats.org/officeDocument/2006/relationships/extended-properties" Target="/docProps/app.xml" Id="Rd5a7b22ee7d241b9" /><Relationship Type="http://schemas.openxmlformats.org/officeDocument/2006/relationships/officeDocument" Target="/ppt/presentation.xml" Id="Rc5617787896a43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ba1d4c85c7424b"/>
  </p:sldMasterIdLst>
  <p:notesMasterIdLst>
    <p:notesMasterId xmlns:r="http://schemas.openxmlformats.org/officeDocument/2006/relationships" r:id="R3cb88d3931aa4623"/>
  </p:notesMasterIdLst>
  <p:sldIdLst>
    <p:sldId xmlns:r="http://schemas.openxmlformats.org/officeDocument/2006/relationships" id="256" r:id="Rd89df8bffd7e48f2"/>
    <p:sldId xmlns:r="http://schemas.openxmlformats.org/officeDocument/2006/relationships" id="257" r:id="R690ceba8b0074f34"/>
    <p:sldId xmlns:r="http://schemas.openxmlformats.org/officeDocument/2006/relationships" id="258" r:id="Rbccff6777af6433e"/>
    <p:sldId xmlns:r="http://schemas.openxmlformats.org/officeDocument/2006/relationships" id="259" r:id="Rbbb39c3774424e3e"/>
    <p:sldId xmlns:r="http://schemas.openxmlformats.org/officeDocument/2006/relationships" id="260" r:id="R2732f71df9a04228"/>
    <p:sldId xmlns:r="http://schemas.openxmlformats.org/officeDocument/2006/relationships" id="261" r:id="R7397c23ce56f460d"/>
    <p:sldId xmlns:r="http://schemas.openxmlformats.org/officeDocument/2006/relationships" id="262" r:id="R123de176395a4470"/>
    <p:sldId xmlns:r="http://schemas.openxmlformats.org/officeDocument/2006/relationships" id="263" r:id="Re8cd2af0beac4ce4"/>
    <p:sldId xmlns:r="http://schemas.openxmlformats.org/officeDocument/2006/relationships" id="264" r:id="R1202ff97547d4b6c"/>
    <p:sldId xmlns:r="http://schemas.openxmlformats.org/officeDocument/2006/relationships" id="265" r:id="Raa2b5670e2014bdd"/>
    <p:sldId xmlns:r="http://schemas.openxmlformats.org/officeDocument/2006/relationships" id="266" r:id="R2cf0bf0c619847bc"/>
    <p:sldId xmlns:r="http://schemas.openxmlformats.org/officeDocument/2006/relationships" id="267" r:id="R7221659cea5b4d5f"/>
    <p:sldId xmlns:r="http://schemas.openxmlformats.org/officeDocument/2006/relationships" id="268" r:id="R4272541d7f4d430a"/>
    <p:sldId xmlns:r="http://schemas.openxmlformats.org/officeDocument/2006/relationships" id="269" r:id="Red1269c8f70b431f"/>
    <p:sldId xmlns:r="http://schemas.openxmlformats.org/officeDocument/2006/relationships" id="270" r:id="R7c322118a8c7453c"/>
    <p:sldId xmlns:r="http://schemas.openxmlformats.org/officeDocument/2006/relationships" id="271" r:id="R4ed0acbf42f84942"/>
    <p:sldId xmlns:r="http://schemas.openxmlformats.org/officeDocument/2006/relationships" id="272" r:id="Ra32a4fbc6525403e"/>
    <p:sldId xmlns:r="http://schemas.openxmlformats.org/officeDocument/2006/relationships" id="273" r:id="R250cd3be456c4812"/>
    <p:sldId xmlns:r="http://schemas.openxmlformats.org/officeDocument/2006/relationships" id="274" r:id="Rcfdaea0415884481"/>
    <p:sldId xmlns:r="http://schemas.openxmlformats.org/officeDocument/2006/relationships" id="275" r:id="R9a635d1d191e4e82"/>
    <p:sldId xmlns:r="http://schemas.openxmlformats.org/officeDocument/2006/relationships" id="276" r:id="Re4243d28b44d45ae"/>
    <p:sldId xmlns:r="http://schemas.openxmlformats.org/officeDocument/2006/relationships" id="277" r:id="R73a8a45edafe4550"/>
    <p:sldId xmlns:r="http://schemas.openxmlformats.org/officeDocument/2006/relationships" id="278" r:id="Rb0f568d4fe9a404b"/>
    <p:sldId xmlns:r="http://schemas.openxmlformats.org/officeDocument/2006/relationships" id="279" r:id="Rd3a182f6bcf54c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5824d12f4d45f0" /><Relationship Type="http://schemas.openxmlformats.org/officeDocument/2006/relationships/slideMaster" Target="/ppt/slideMasters/slideMaster1.xml" Id="R28ba1d4c85c7424b" /><Relationship Type="http://schemas.openxmlformats.org/officeDocument/2006/relationships/notesMaster" Target="/ppt/notesMasters/notesMaster1.xml" Id="R3cb88d3931aa4623" /><Relationship Type="http://schemas.openxmlformats.org/officeDocument/2006/relationships/presProps" Target="/ppt/presProps.xml" Id="R5f8a8c627a3b4190" /><Relationship Type="http://schemas.openxmlformats.org/officeDocument/2006/relationships/tableStyles" Target="/ppt/tableStyles.xml" Id="Rac1221daceb84043" /><Relationship Type="http://schemas.openxmlformats.org/officeDocument/2006/relationships/slide" Target="/ppt/slides/slide1.xml" Id="Rd89df8bffd7e48f2" /><Relationship Type="http://schemas.openxmlformats.org/officeDocument/2006/relationships/slide" Target="/ppt/slides/slide2.xml" Id="R690ceba8b0074f34" /><Relationship Type="http://schemas.openxmlformats.org/officeDocument/2006/relationships/slide" Target="/ppt/slides/slide3.xml" Id="Rbccff6777af6433e" /><Relationship Type="http://schemas.openxmlformats.org/officeDocument/2006/relationships/slide" Target="/ppt/slides/slide4.xml" Id="Rbbb39c3774424e3e" /><Relationship Type="http://schemas.openxmlformats.org/officeDocument/2006/relationships/slide" Target="/ppt/slides/slide5.xml" Id="R2732f71df9a04228" /><Relationship Type="http://schemas.openxmlformats.org/officeDocument/2006/relationships/slide" Target="/ppt/slides/slide6.xml" Id="R7397c23ce56f460d" /><Relationship Type="http://schemas.openxmlformats.org/officeDocument/2006/relationships/slide" Target="/ppt/slides/slide7.xml" Id="R123de176395a4470" /><Relationship Type="http://schemas.openxmlformats.org/officeDocument/2006/relationships/slide" Target="/ppt/slides/slide8.xml" Id="Re8cd2af0beac4ce4" /><Relationship Type="http://schemas.openxmlformats.org/officeDocument/2006/relationships/slide" Target="/ppt/slides/slide9.xml" Id="R1202ff97547d4b6c" /><Relationship Type="http://schemas.openxmlformats.org/officeDocument/2006/relationships/slide" Target="/ppt/slides/slide10.xml" Id="Raa2b5670e2014bdd" /><Relationship Type="http://schemas.openxmlformats.org/officeDocument/2006/relationships/slide" Target="/ppt/slides/slide11.xml" Id="R2cf0bf0c619847bc" /><Relationship Type="http://schemas.openxmlformats.org/officeDocument/2006/relationships/slide" Target="/ppt/slides/slide12.xml" Id="R7221659cea5b4d5f" /><Relationship Type="http://schemas.openxmlformats.org/officeDocument/2006/relationships/slide" Target="/ppt/slides/slide13.xml" Id="R4272541d7f4d430a" /><Relationship Type="http://schemas.openxmlformats.org/officeDocument/2006/relationships/slide" Target="/ppt/slides/slide14.xml" Id="Red1269c8f70b431f" /><Relationship Type="http://schemas.openxmlformats.org/officeDocument/2006/relationships/slide" Target="/ppt/slides/slide15.xml" Id="R7c322118a8c7453c" /><Relationship Type="http://schemas.openxmlformats.org/officeDocument/2006/relationships/slide" Target="/ppt/slides/slide16.xml" Id="R4ed0acbf42f84942" /><Relationship Type="http://schemas.openxmlformats.org/officeDocument/2006/relationships/slide" Target="/ppt/slides/slide17.xml" Id="Ra32a4fbc6525403e" /><Relationship Type="http://schemas.openxmlformats.org/officeDocument/2006/relationships/slide" Target="/ppt/slides/slide18.xml" Id="R250cd3be456c4812" /><Relationship Type="http://schemas.openxmlformats.org/officeDocument/2006/relationships/slide" Target="/ppt/slides/slide19.xml" Id="Rcfdaea0415884481" /><Relationship Type="http://schemas.openxmlformats.org/officeDocument/2006/relationships/slide" Target="/ppt/slides/slide20.xml" Id="R9a635d1d191e4e82" /><Relationship Type="http://schemas.openxmlformats.org/officeDocument/2006/relationships/slide" Target="/ppt/slides/slide21.xml" Id="Re4243d28b44d45ae" /><Relationship Type="http://schemas.openxmlformats.org/officeDocument/2006/relationships/slide" Target="/ppt/slides/slide22.xml" Id="R73a8a45edafe4550" /><Relationship Type="http://schemas.openxmlformats.org/officeDocument/2006/relationships/slide" Target="/ppt/slides/slide23.xml" Id="Rb0f568d4fe9a404b" /><Relationship Type="http://schemas.openxmlformats.org/officeDocument/2006/relationships/slide" Target="/ppt/slides/slide24.xml" Id="Rd3a182f6bcf54c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3a3a2d747c46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d9568431f34a91" /><Relationship Type="http://schemas.openxmlformats.org/officeDocument/2006/relationships/notesMaster" Target="/ppt/notesMasters/notesMaster1.xml" Id="Rde2b379a90a844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b90f21917a4eb2" /><Relationship Type="http://schemas.openxmlformats.org/officeDocument/2006/relationships/notesMaster" Target="/ppt/notesMasters/notesMaster1.xml" Id="R83e81c94977041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9d5f5f63f64427" /><Relationship Type="http://schemas.openxmlformats.org/officeDocument/2006/relationships/notesMaster" Target="/ppt/notesMasters/notesMaster1.xml" Id="R9d9f6470916b42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ebba38f2634150" /><Relationship Type="http://schemas.openxmlformats.org/officeDocument/2006/relationships/notesMaster" Target="/ppt/notesMasters/notesMaster1.xml" Id="Rf0bea1cfc5d44e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4a883212ca4764" /><Relationship Type="http://schemas.openxmlformats.org/officeDocument/2006/relationships/notesMaster" Target="/ppt/notesMasters/notesMaster1.xml" Id="R66f7e6bb99464f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2f1b34b8b94a0d" /><Relationship Type="http://schemas.openxmlformats.org/officeDocument/2006/relationships/notesMaster" Target="/ppt/notesMasters/notesMaster1.xml" Id="R92456400d04443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a8da2994894e03" /><Relationship Type="http://schemas.openxmlformats.org/officeDocument/2006/relationships/notesMaster" Target="/ppt/notesMasters/notesMaster1.xml" Id="Rfa0ac4e48ead4c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4d0d6d32a54f84" /><Relationship Type="http://schemas.openxmlformats.org/officeDocument/2006/relationships/notesMaster" Target="/ppt/notesMasters/notesMaster1.xml" Id="R7499f2e7a6864d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91020efdcb4f41" /><Relationship Type="http://schemas.openxmlformats.org/officeDocument/2006/relationships/notesMaster" Target="/ppt/notesMasters/notesMaster1.xml" Id="Rd038c67b9c0941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79080d7a554b9e" /><Relationship Type="http://schemas.openxmlformats.org/officeDocument/2006/relationships/notesMaster" Target="/ppt/notesMasters/notesMaster1.xml" Id="Ra298ebb9112341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b6d5c269a0499e" /><Relationship Type="http://schemas.openxmlformats.org/officeDocument/2006/relationships/notesMaster" Target="/ppt/notesMasters/notesMaster1.xml" Id="Recd14d5dbb0047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2af694c8eb4e0b" /><Relationship Type="http://schemas.openxmlformats.org/officeDocument/2006/relationships/notesMaster" Target="/ppt/notesMasters/notesMaster1.xml" Id="R2ca00c21b90c4a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aa8f853fa84148" /><Relationship Type="http://schemas.openxmlformats.org/officeDocument/2006/relationships/notesMaster" Target="/ppt/notesMasters/notesMaster1.xml" Id="R90af230a9a0541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c90f5e6a354edc" /><Relationship Type="http://schemas.openxmlformats.org/officeDocument/2006/relationships/notesMaster" Target="/ppt/notesMasters/notesMaster1.xml" Id="R1df6094ba26d40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9a22bacb8a4848" /><Relationship Type="http://schemas.openxmlformats.org/officeDocument/2006/relationships/notesMaster" Target="/ppt/notesMasters/notesMaster1.xml" Id="R28062817fe5e42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915e9490584369" /><Relationship Type="http://schemas.openxmlformats.org/officeDocument/2006/relationships/notesMaster" Target="/ppt/notesMasters/notesMaster1.xml" Id="R666f0392b81b4c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ab7198746b45a8" /><Relationship Type="http://schemas.openxmlformats.org/officeDocument/2006/relationships/notesMaster" Target="/ppt/notesMasters/notesMaster1.xml" Id="Rd70170f97d2147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f5b9ba938849fd" /><Relationship Type="http://schemas.openxmlformats.org/officeDocument/2006/relationships/notesMaster" Target="/ppt/notesMasters/notesMaster1.xml" Id="R896902d325524e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1aa8a575674dde" /><Relationship Type="http://schemas.openxmlformats.org/officeDocument/2006/relationships/notesMaster" Target="/ppt/notesMasters/notesMaster1.xml" Id="R786010577b244b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debd89398a4fd6" /><Relationship Type="http://schemas.openxmlformats.org/officeDocument/2006/relationships/notesMaster" Target="/ppt/notesMasters/notesMaster1.xml" Id="Rb73ff6f2f9374b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9db3d2b0eb4082" /><Relationship Type="http://schemas.openxmlformats.org/officeDocument/2006/relationships/notesMaster" Target="/ppt/notesMasters/notesMaster1.xml" Id="Rf7133885374a4e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8eb3bfd8a04914" /><Relationship Type="http://schemas.openxmlformats.org/officeDocument/2006/relationships/notesMaster" Target="/ppt/notesMasters/notesMaster1.xml" Id="R57ddd5866eaa487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0de67d705d4f7c" /><Relationship Type="http://schemas.openxmlformats.org/officeDocument/2006/relationships/notesMaster" Target="/ppt/notesMasters/notesMaster1.xml" Id="R28b161c8e50c4f2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430ca253754812" /><Relationship Type="http://schemas.openxmlformats.org/officeDocument/2006/relationships/notesMaster" Target="/ppt/notesMasters/notesMaster1.xml" Id="R26c318c27fde4c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开场：这一部分研究多个副本怎样对提案的顺序取得一致。B0、B1、B2 是带父指针的协议提案节点，载荷留空。全程只观察 View、Proposal、Vote、QC、Lock 与 Commit。建议用时 25–30 分钟，其中现场演示约 8 分钟。PPT 中保留英文按钮名，方便在英文 Dashboard 中定位。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先区分两个目标。Safety 是正确副本不会提交冲突的历史。Liveness 是满足网络稳定和正确 Leader 条件后能继续做出决定。HotStuff 的理论模型使用固定成员集合、身份认证和部分同步网络，允许最多 f 个拜占庭节点。部分同步指未知时间 GST 之后消息延迟存在上界，并不承诺网络永远延迟很小。本 Demo 只模拟确定性消息队列，不能用它证明任意网络环境下的安全性。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https://arxiv.org/html/1803.05069v6 §3–4；本项目：backend/hotstuff.py、backend/node.py、README.md。截图来自独立运行的同版本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 n=3f+1 的设定中取 q=2f+1。这里 n=4、f=1，因此 q=3。任意两组三人集合至少重叠两人，其中至少一人正确。演示两个集合 {N1,N2,N3} 与 {N2,N3,N4}，交集为 N2、N3。正确节点同一 View 只投一次票，所以同一 View 的冲突提案无法都收集到三票。提醒学生：跨 View 还需要锁定规则，单靠交集不够。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https://arxiv.org/html/1803.05069v6 §4.4；交集算式为本课推导。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这一页给出后面观察的主线。QC 把一组投票变成可传递的证据。HighQC 帮助新 Leader 确定从哪里扩展，LockedQC 约束副本接下来接受什么。Chained HotStuff 把多阶段认证展开到连续提案中，使后继提案推动祖先达到最终性。Pacemaker 负责换届和推进，投票与锁定规则负责安全。线性通信和乐观响应性将在后面的性能原理页单独解释，不能从 Demo 的 0.8 秒动画节奏推断协议性能。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https://arxiv.org/html/1803.05069v6 §4–6；本项目：backend/hotstuff.py、backend/node.py、README.md。截图来自独立运行的同版本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 block 只表示协议中的提案节点，不讨论载荷或应用。View 是逻辑轮次。角色由 View 决定。HighQC 是本地已知的最高 View 证书。LockedQC 是安全投票规则所参考的锁定证书。Latest block 可能只是刚收到的提案。Commit block 则是本地最新已决定的祖先。不要将 Latest、Certified 和 Committed 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 http://localhost:8000。点击 Reset，确认 PAUSED · STEP 0。不要提交任何内容。指出左上方 View=1，N1 卡片标注 Leader，其余是 Replica。四个节点的 HighQC、LockedQC、Commit block 均为 B0。Start 自动推进，Pause 停止，Next Step 会暂停自动运行并恰好执行一个事件。介绍时只展示页面上半部与 Event log，后续全程按这两个区域观察。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点击一次 Next Step。日志出现 Leader N1 proposes B1。N1 在 HighQC 认证的 B0 上创建 B1，并携带 QC(B0)。说明 B1.parent_id=B0，B1.qc=QC(B0)。提案中携带的是父节点证书，本轮还没有 QC(B1)。所有在线副本可以看到 B1，所以 Latest block 会变成 B1，但这并不表示它已认证或提交。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STEP 1 继续四次 Next Step，依次看到 N1、N2、N3、N4 的 vote。Leader 也可以投票。投票前检查当前 View、本轮指定 Leader、已知且有效的父 QC，以及本 View 尚未投过票。接着应用安全条件：提案扩展锁定节点，或者提案携带的 QC 的 View 严格高于本地 LockedQC。等号不够。后面的例子会展开这两个分支。当前 Demo 不主动制造恶意分叉，因此这条规则主要通过代码和案例讲解。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  <a:p xmlns:a="http://schemas.openxmlformats.org/drawingml/2006/main">
            <a:r>
              <a:t>https://arxiv.org/html/1803.05069v6 §4.1 safeNode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累计单步到 STEP 6。如果上一页停在 STEP 5，只需再点一次。STEP 4 已经收到第三票，达到门槛。队列先处理 N4 的已排队投票，再在 STEP 6 广播 QC，因此正常场景证书列出四名 voters。三票仍是成立门槛，并非四票。解释 QC(B1) 只是认证 B1，不代表最终提交。HighQC 更新为 B1，锁与提交仍停在 B0。故障演示会明确看到恰好三名 voters。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7 进入 View 2，此时 Leader 从 N1 变成 N2。STEP 8 N2 基于 QC(B1) 提出 B2。当前实现的新 Leader 直接读取在线节点的 HighQC，挑选最高值。这等价于教学层面的 NEW-VIEW 信息交换，不是真实网络中的完整换届实现。角色切换不清空证书或锁。View 是逻辑轮次，即使没有成功提案，也可以因 timeout 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  <a:p xmlns:a="http://schemas.openxmlformats.org/drawingml/2006/main">
            <a:r>
              <a:t>https://arxiv.org/html/1803.05069v6 §4.1、§6 Pacemaker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停在 STEP 13。四个节点都看到 QC(B2)。HighQC=B2 表示目前知道的最新认证进度。LockedQC=B1 表示后续投票要参考 B1 所在分支。B2 的提案中已携带 QC(B1)，因此接收 QC(B2) 时可以将父节点 B1 作为锁定依据。Commit block 仍为 B0。强调 HighQC 和 LockedQC 虽然都是 QC，但职责不同，数值不必相等。这里是当前 Demo 在收到 QC 时进行原子更新的时机。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设本地 LockedQC 为 QC(B1)，其 View=1。第一行，提案沿 B1 分支扩展，因此可以通过安全条件。第二行，提案离开 B1 分支，携带的证书 View 不高于 1，因此拒绝。第三行，提案不扩展本地锁，但携带一个有效且 View=2 的证书，可以通过更高 QC 的分支。这里仅讨论 safeNode 条件，仍需通过 View、Leader、证书和单次投票检查。更高 QC 必须真实有效，不能用更大的数字伪造。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  <a:p xmlns:a="http://schemas.openxmlformats.org/drawingml/2006/main">
            <a:r>
              <a:t>https://arxiv.org/html/1803.05069v6 §4.1 safeNode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Basic HotStuff 用 prepare、pre-commit、commit 三轮认证，再用 decide 通知最终决定。Chained HotStuff 将阶段推进分布到相互链接的提案上。对于 B1，后继 B2、B3 的认证逐步增加其确认深度。表格用于解释当前 Demo 的对应关系，不能把 Basic 的消息阶段与 Demo 的独立 View 生硬等同。Demo 收到本块 QC 就立即广播和更新状态，原论文的链式伪代码还有具体消息触发位置与流水线细节。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https://arxiv.org/html/1803.05069v6 §4–6；本项目：backend/hotstuff.py、backend/node.py、README.md。截图来自独立运行的同版本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停在 STEP 20，日志同时出现 QC(B3) formed 和 B1 committed。B1、B2、B3 直接相连，View 分别是 1、2、3，且三者都已认证。提交最老的 B1。当前最新提案 B3 尚未提交，B2 也尚未提交。本实现要求连续 View，跳过 View 会推迟提交，直到形成新的连续三链。Commit 是对已决定历史的扩展，不能把它解释为最近收到一份 QC。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这是一张可以直接照着操作的讲课表。每次从 Reset 开始，始终使用 Next Step，不要混用自动运行，否则屏幕步数可能越过目标。正常一轮是七步：一次提案、四个投票、一次 QC、一次换届。STEP 20 是第三轮 QC，STEP 21 才进入 View 4。B0 是预先提交的起点，因此第一次新提交发生在 B1。让学生先预测 STEP 13 的三个字段，再点击验证。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把前面的部件连接起来。第一，法定人数交集加同一 View 的单次投票，约束同轮冲突认证。第二，锁定规则把约束带到后续 View，仅仅轮次更大不能自动解除约束。第三，多阶段证据让足够多正确副本进入受约束的状态，从而支持不可冲突的最终决定。这里给出机制直觉，不是在证明教学代码能抵抗所有恶意攻击。完整安全性论证需要原论文的身份认证、消息规则和模型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https://arxiv.org/html/1803.05069v6 §4.4、附录 A–B；本项目：backend/hotstuff.py、backend/node.py、README.md。截图来自独立运行的同版本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原理上，安全规则不能保证当前 Leader 一定发消息，因此需要推进机制。Timeout 用来怀疑当前 View 无法顺利推进，不是证明 Leader 恶意。Pacemaker 帮助正确副本进入适合推进的 View，并促使新 Leader 取得 QC 信息。教学实现用单一协调器统一推进在线副本的 View，并用三个逻辑 tick 展示等待过程。暂停时 tick 不动。不存在真实独立节点时钟、超时证书或网络分区模型。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https://arxiv.org/html/1803.05069v6 §6 Pacemaker；本项目：backend/hotstuff.py、backend/node.py、README.md。截图来自独立运行的同版本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Reset 开始点击 Crash Leader，此操作不增加 STEP。STEP 1 观察 N1 没有提案。STEP 2、3、4 显示倒计时 3、2、1。STEP 5 进入 View 2，Leader N2。STEP 6 提出 B1，因为上一 View 没有创建提案，编号仍是 B1。STEP 7 N1 跳过投票，STEP 8–10 是 N2/N3/N4 投票，STEP 11 形成 QC(B1)，voters 为 N2、N3、N4。若继续到 STEP 25，View 2、3、4 的连续三链会提交 B1。点击 Recover Nodes，同步落后节点并清除故障。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Reset 后在下拉框选择 Node 4 withholds votes。STEP 1 N1 提案，STEP 2–4 N1/N2/N3 投票，STEP 5 日志显示 N4 skips vote，STEP 6 形成三票 QC。让学生比较上一段正常路径的四票证书。N4 仍在线接收 QC，因此它的 HighQC 也前进。它只扣留投票，轮到它担任 Leader 时仍然发出提案。这个实验不包含双签或恶意分叉，不应声称已经测试完整拜占庭攻击模型。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先让学生判断少一票和少两票的区别。正常情况下最多允许 f=1 个故障节点，剩余三个节点仍可形成 quorum。若既让 N1 崩溃，又让 N4 扣留投票，N2/N3 只有两票。N2 当 Leader 时会收到两票并等待超时，不应凭空形成 QC。可选操作：Reset，Crash Leader，选择 Node 4 withholds votes。到 STEP 6 是 N2 的提案，STEP 10 处理完投票，STEP 11–13 倒计时，STEP 14 换到 View 3，始终没有 QC(B1)。点击 Recover Nodes 后继续。两个故障已超过 f=1，不承诺活性。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线性通信的条件必须讲清楚。原版 HotStuff 通过 Leader 收集投票和紧凑阈值签名 QC，使阶段推进以及成功的 Leader 换届使用线性数量的认证材料。只数消息条数不足以推导总通信量，广播长 voters 列表仍有体积成本。乐观响应性指网络稳定且由正确 Leader 推进后，进度受实际收到足够响应的速度驱动，而不必在每一步等最大网络延迟。Timeout 仍然需要。当前 Demo 使用 ID 列表，无阈值签名，中心化 pacemaker 和固定播放节奏都不用于性能测量。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https://arxiv.org/html/1803.05069v6 §1、§3 Complexity measure、§4.4；https://github.com/hot-stuff/libhotstuff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这页帮助回答实现与论文是否完全相同。教学版保留 View、Leader、Proposal、Vote、HighQC、LockedQC、父指针和三链提交。签名只是节点 ID。NEW-VIEW 由直接读取在线节点的 HighQC 模拟。统一协调器与逻辑 tick 替代真正 pacemaker。三链规则额外要求连续 View。节点恢复通过可信同伴状态复制。实验没有涵盖任意 Byzantine 行为或网络分区，因此安全性和活性结论只能在这些模拟约束下观察。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这是讲课时可以停留的操作页。每个场景都先 Reset，避免上一段故障影响下一段。第一段总共点 20 次，分别停在 1、6、13、20。第二段 Crash Leader 后停在 5 和 11，分别检查新 Leader 和新 QC，最后恢复。第三段 N4 不投票后停在 6，检查日志中 voters 为 N1、N2、N3。各场景按钮只改变控制或故障状态，不增加 STEP，只有 Next Step 或自动 tick 增加 STEP。现场网页沿用英文 Dashboard。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用问答收尾。问：为什么 QC(B1) 出现后 B1 没有立即提交？答：QC 是第一层认证，还需要后继形成提交所需的链式证据。问：新 Leader 是否从任意节点开始？答：依据 HighQC 选择扩展点，并受副本锁定规则约束。问：为什么一个节点不投票仍能继续？答：剩余三个节点达到 2f+1。问：为什么两个故障可能一直超时？答：可用票数不足 quorum。最后强调安全规则与活性推进的区别。参考原论文 §3–6 与项目 node.py、hotstuff.py。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参考与依据</a:t>
            </a:r>
          </a:p>
          <a:p xmlns:a="http://schemas.openxmlformats.org/drawingml/2006/main">
            <a:r>
              <a:t>https://arxiv.org/html/1803.05069v6</a:t>
            </a:r>
          </a:p>
          <a:p xmlns:a="http://schemas.openxmlformats.org/drawingml/2006/main">
            <a:r>
              <a:t>https://github.com/hot-stuff/libhotstuff</a:t>
            </a:r>
          </a:p>
          <a:p xmlns:a="http://schemas.openxmlformats.org/drawingml/2006/main">
            <a:r>
              <a:t>本项目：backend/hotstuff.py、backend/node.py、README.md。截图来自独立运行的同版本 Demo，仅裁取协议状态区域。现场演示地址：http://localhost:8000。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8a02f63da4c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11ceefa0554604" /><Relationship Type="http://schemas.openxmlformats.org/officeDocument/2006/relationships/slideLayout" Target="/ppt/slideLayouts/slideLayout1.xml" Id="R7f1640527bab4c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1640527bab4c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6aedd0c0b4333" /><Relationship Type="http://schemas.openxmlformats.org/officeDocument/2006/relationships/notesSlide" Target="/ppt/notesSlides/notesSlide1.xml" Id="Rb21ac830987a47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09feec1154cd8" /><Relationship Type="http://schemas.openxmlformats.org/officeDocument/2006/relationships/notesSlide" Target="/ppt/notesSlides/notesSlide2.xml" Id="Rcdbce9953bef4b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5da584b4a4ffe" /><Relationship Type="http://schemas.openxmlformats.org/officeDocument/2006/relationships/notesSlide" Target="/ppt/notesSlides/notesSlide3.xml" Id="R4ce1ca75519249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886a015054bf8" /><Relationship Type="http://schemas.openxmlformats.org/officeDocument/2006/relationships/notesSlide" Target="/ppt/notesSlides/notesSlide4.xml" Id="R66fd70dc2cd947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8c2ff4e594e51" /><Relationship Type="http://schemas.openxmlformats.org/officeDocument/2006/relationships/notesSlide" Target="/ppt/notesSlides/notesSlide5.xml" Id="Rea36331c57014c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6086142a645d8" /><Relationship Type="http://schemas.openxmlformats.org/officeDocument/2006/relationships/image" Target="/ppt/media/image.png" Id="Rf6bbe65b843e4974" /><Relationship Type="http://schemas.openxmlformats.org/officeDocument/2006/relationships/notesSlide" Target="/ppt/notesSlides/notesSlide6.xml" Id="R4c9bbcaaa65f43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e129335394e6a" /><Relationship Type="http://schemas.openxmlformats.org/officeDocument/2006/relationships/image" Target="/ppt/media/image2.png" Id="R3db4d03e4c8b4d83" /><Relationship Type="http://schemas.openxmlformats.org/officeDocument/2006/relationships/notesSlide" Target="/ppt/notesSlides/notesSlide7.xml" Id="R759db761767446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cc93771eb4de3" /><Relationship Type="http://schemas.openxmlformats.org/officeDocument/2006/relationships/notesSlide" Target="/ppt/notesSlides/notesSlide8.xml" Id="Rd6308f3de83744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c4273dfe34c3e" /><Relationship Type="http://schemas.openxmlformats.org/officeDocument/2006/relationships/image" Target="/ppt/media/image3.png" Id="Rbe186b6dca694d11" /><Relationship Type="http://schemas.openxmlformats.org/officeDocument/2006/relationships/notesSlide" Target="/ppt/notesSlides/notesSlide9.xml" Id="R52e9ab3a6f3646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18e7324e64273" /><Relationship Type="http://schemas.openxmlformats.org/officeDocument/2006/relationships/notesSlide" Target="/ppt/notesSlides/notesSlide10.xml" Id="R1e2d176ad0d54b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58f02626c4b92" /><Relationship Type="http://schemas.openxmlformats.org/officeDocument/2006/relationships/image" Target="/ppt/media/image4.png" Id="R4f32dc0c08ec4e06" /><Relationship Type="http://schemas.openxmlformats.org/officeDocument/2006/relationships/notesSlide" Target="/ppt/notesSlides/notesSlide11.xml" Id="R8e26d7eb0ddb42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55a84acb443dc" /><Relationship Type="http://schemas.openxmlformats.org/officeDocument/2006/relationships/notesSlide" Target="/ppt/notesSlides/notesSlide12.xml" Id="Ra1932d6027944a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a511c024a4753" /><Relationship Type="http://schemas.openxmlformats.org/officeDocument/2006/relationships/notesSlide" Target="/ppt/notesSlides/notesSlide13.xml" Id="R725661c098a949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e3fade1224bad" /><Relationship Type="http://schemas.openxmlformats.org/officeDocument/2006/relationships/image" Target="/ppt/media/image5.png" Id="Re4def9e6f6954ce8" /><Relationship Type="http://schemas.openxmlformats.org/officeDocument/2006/relationships/notesSlide" Target="/ppt/notesSlides/notesSlide14.xml" Id="R8611828ef2444b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ca09dd336416e" /><Relationship Type="http://schemas.openxmlformats.org/officeDocument/2006/relationships/notesSlide" Target="/ppt/notesSlides/notesSlide15.xml" Id="R9ae194862f424e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1ef0f56b64594" /><Relationship Type="http://schemas.openxmlformats.org/officeDocument/2006/relationships/notesSlide" Target="/ppt/notesSlides/notesSlide16.xml" Id="Raf4e877d813449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102bc2dad4c83" /><Relationship Type="http://schemas.openxmlformats.org/officeDocument/2006/relationships/notesSlide" Target="/ppt/notesSlides/notesSlide17.xml" Id="R060788dd26df49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30b74ca1348be" /><Relationship Type="http://schemas.openxmlformats.org/officeDocument/2006/relationships/image" Target="/ppt/media/image6.png" Id="R686cc4d25d2b4212" /><Relationship Type="http://schemas.openxmlformats.org/officeDocument/2006/relationships/notesSlide" Target="/ppt/notesSlides/notesSlide18.xml" Id="Rfafc61056a8245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072784a7a48c3" /><Relationship Type="http://schemas.openxmlformats.org/officeDocument/2006/relationships/image" Target="/ppt/media/image7.png" Id="R0ed08d511c0941c6" /><Relationship Type="http://schemas.openxmlformats.org/officeDocument/2006/relationships/notesSlide" Target="/ppt/notesSlides/notesSlide19.xml" Id="R6185887b9ae84a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72f8e10274531" /><Relationship Type="http://schemas.openxmlformats.org/officeDocument/2006/relationships/notesSlide" Target="/ppt/notesSlides/notesSlide20.xml" Id="R8bdafc2ba2244a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f7508008e44d7" /><Relationship Type="http://schemas.openxmlformats.org/officeDocument/2006/relationships/notesSlide" Target="/ppt/notesSlides/notesSlide21.xml" Id="R36a58605ef674d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ccfae316749b9" /><Relationship Type="http://schemas.openxmlformats.org/officeDocument/2006/relationships/notesSlide" Target="/ppt/notesSlides/notesSlide22.xml" Id="Rec86e78ed9cc45d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b124db8294118" /><Relationship Type="http://schemas.openxmlformats.org/officeDocument/2006/relationships/notesSlide" Target="/ppt/notesSlides/notesSlide23.xml" Id="Ra267d7a979fd41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ff270d2bc4b73" /><Relationship Type="http://schemas.openxmlformats.org/officeDocument/2006/relationships/notesSlide" Target="/ppt/notesSlides/notesSlide24.xml" Id="R5beda7aa36224f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A512B-6D17-4983-9991-7B42565F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HotStuff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66853-0279-4B9A-8F52-D5C4F677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6FB23-40C8-4738-858D-4072818E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489AF-6861-4C3F-8B12-31AE858F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共识协议原理与逐步演示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E79AE-9DE3-46DC-AD64-4A4F715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PPT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45CA3-B730-463E-A1EB-A78B2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四个副本如何形成证据、维持安全并在故障后继续推进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89CFD-FFE1-409F-BF4D-02D3A9BA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Proposal    Vote    QC    Lock    Commit</a:t>
            </a:r>
          </a:p>
        </p:txBody>
      </p:sp>
    </p:spTree>
    <p:extLst>
      <p:ext uri="{BB962C8B-B14F-4D97-AF65-F5344CB8AC3E}">
        <p14:creationId xmlns:p14="http://schemas.microsoft.com/office/powerpoint/2010/main" val="767979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E1A15-9427-4310-A28F-103F17AB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协议目标与运行假设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58ECE-195C-4878-B6BB-45583DED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A4C42-A765-4DCE-A189-AF935BA8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6C877-D5DF-4060-9BF8-402FAD3E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Safety：正确副本的提交历史兼容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BCEFB-71EC-450B-B243-32242019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消息延迟或换届不应导致冲突提交。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B4DAE-1373-41B9-BA17-3DE0DE47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Liveness：系统在条件满足后继续决定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D1598-0CF0-43EE-AD31-D3780B03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部分同步网络恢复稳定，正确 Leader 获得足够响应。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4792F-45B7-4B59-90CF-1CDAF33E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课堂设定：n = 4，f 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8D7F6-CA01-4897-A4F9-F6F9702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成员固定。原协议要求身份认证，本 Demo 用节点 ID 模拟。</a:t>
            </a:r>
          </a:p>
        </p:txBody>
      </p:sp>
    </p:spTree>
    <p:extLst>
      <p:ext uri="{BB962C8B-B14F-4D97-AF65-F5344CB8AC3E}">
        <p14:creationId xmlns:p14="http://schemas.microsoft.com/office/powerpoint/2010/main" val="1905318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F9761-34A6-4C7D-BC1C-A052FFA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为什么需要 3 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54256-FB91-4A30-8F2B-2D74CD26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39593-BB36-444D-8F2F-9D0ECED0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32EFB-9515-4B9E-AF8B-1CEFC6BF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q = 2f + 1 = 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371725"/>
          <a:ext xmlns:a="http://schemas.openxmlformats.org/drawingml/2006/main" cx="109728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310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集合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投票成员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</a:tr>
              <a:tr h="6310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Quorum A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N1, N2, N3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6310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Quorum B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N2, N3, N4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631031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共同成员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N2, N3：至少 1 个正确副本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942B7-7EFB-49B8-84FE-4342132A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|QA ∩ QB| ≥ 3 + 3 − 4 = 2 &gt; 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56267-D8A3-4B27-A8FB-258BF412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同一 View 的单次投票约束，配合交集，排除两个冲突 QC。</a:t>
            </a:r>
          </a:p>
        </p:txBody>
      </p:sp>
    </p:spTree>
    <p:extLst>
      <p:ext uri="{BB962C8B-B14F-4D97-AF65-F5344CB8AC3E}">
        <p14:creationId xmlns:p14="http://schemas.microsoft.com/office/powerpoint/2010/main" val="859795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D6997-D3C5-4405-82A1-BAE6661E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HotStuff 的关键设计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76C08-4E15-4031-BF75-0B7FCC3C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B544B-2F8B-46CA-ABD8-9A7C44A8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A16E5-96E5-412E-BFB3-F87C7A1B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QC：把投票作为证据继续传递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34ED3-96A7-4AF1-8D44-588B1699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后继提案携带父提案的证书。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91C02-9611-46BD-93DC-9A3232DC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HighQC 与 LockedQC：分别记录进度和安全约束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65E3F-5D36-4287-B89E-CA98A3E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Leader 选择扩展点，副本检查是否可以投票。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67072-6927-47A8-ACD2-8D3B427A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Chaining：后继认证推动祖先提交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FD614-466C-4E5C-A08D-C3DF43E2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一条新提案同时服务于多个在途提案的进度。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9942D-7BB0-4B16-B43E-0BDE0B8E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Pacemaker：协调 View 与 Leader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66561-28F8-4008-94D5-01F67570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协议将安全规则与推进机制分开。</a:t>
            </a:r>
          </a:p>
        </p:txBody>
      </p:sp>
    </p:spTree>
    <p:extLst>
      <p:ext uri="{BB962C8B-B14F-4D97-AF65-F5344CB8AC3E}">
        <p14:creationId xmlns:p14="http://schemas.microsoft.com/office/powerpoint/2010/main" val="661166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A1E07-93F4-47F6-9C4D-2F55DEB0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状态字段与协议含义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084A6-5E59-4CA8-BE4C-23A28876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62E76-474F-43B3-B546-5E3F33D0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Dashboard 字段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View / Leader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当前逻辑轮次及本轮提案者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HighQC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本地已知的最高 View 证书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LockedQC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安全投票使用的锁定证书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Latest block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最近收到的协议提案节点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Commit block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已经决定的最新祖先节点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5346C-CD0E-480F-BE2B-6523DBE8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本课使用空载荷，B0 为预置信任的起点。</a:t>
            </a:r>
          </a:p>
        </p:txBody>
      </p:sp>
    </p:spTree>
    <p:extLst>
      <p:ext uri="{BB962C8B-B14F-4D97-AF65-F5344CB8AC3E}">
        <p14:creationId xmlns:p14="http://schemas.microsoft.com/office/powerpoint/2010/main" val="1748155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B8522-BFF5-49C1-B091-4E2F4A16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演示 0：初始状态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7A9AC-3B18-43EF-B594-82C0D947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7B8E4-4E2E-404F-A60C-776709FE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4548F-20FF-4CA1-A19D-B68E639A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Reset 后保持暂停，观察四个节点的本地状态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be65b843e4974"/>
          <a:stretch xmlns:a="http://schemas.openxmlformats.org/drawingml/2006/main"/>
        </p:blipFill>
        <p:spPr>
          <a:xfrm xmlns:a="http://schemas.openxmlformats.org/drawingml/2006/main">
            <a:off x="609600" y="1782509"/>
            <a:ext cx="10972800" cy="42454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CFA5C-BF7C-4C89-8DB2-3F0BDCBA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View 1，Leader N1，HighQC = LockedQC = Commit block = B0。</a:t>
            </a:r>
          </a:p>
        </p:txBody>
      </p:sp>
    </p:spTree>
    <p:extLst>
      <p:ext uri="{BB962C8B-B14F-4D97-AF65-F5344CB8AC3E}">
        <p14:creationId xmlns:p14="http://schemas.microsoft.com/office/powerpoint/2010/main" val="1389451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2F196-A5C9-41B8-BE43-C6F45AE2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演示 1：Leader 发出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9D501-D9E4-4DF4-A36E-12867D7D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2AB2A-D269-46DF-84A6-59EF83C9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2E4C8-4721-47A9-A5AD-78072DBD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在初始状态点击一次 Next Step，停在 STEP 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4d03e4c8b4d83"/>
          <a:stretch xmlns:a="http://schemas.openxmlformats.org/drawingml/2006/main"/>
        </p:blipFill>
        <p:spPr>
          <a:xfrm xmlns:a="http://schemas.openxmlformats.org/drawingml/2006/main">
            <a:off x="609600" y="1782509"/>
            <a:ext cx="10972800" cy="42454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729B9-577E-4762-9C31-215E3DD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Latest block 前进到 B1，但 HighQC 与 Commit block 仍为 B0。</a:t>
            </a:r>
          </a:p>
        </p:txBody>
      </p:sp>
    </p:spTree>
    <p:extLst>
      <p:ext uri="{BB962C8B-B14F-4D97-AF65-F5344CB8AC3E}">
        <p14:creationId xmlns:p14="http://schemas.microsoft.com/office/powerpoint/2010/main" val="5489766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CDF9C-4DF7-4EF4-8952-9DE60BAE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Vote：副本怎样决定是否投票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0ED02-FA4B-460F-B65B-B14A03CB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9D81B-6834-4B5C-BF4C-BB6E7F65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2526E-589E-4F04-9815-87B26D6A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同一 View，每个正确副本最多投一票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FFEF3-C31C-4F25-B705-C1D5DD62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基本检查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F6F91-40A0-475A-BA6F-C9CBEEBD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当前 View、本轮指定 Leader、有效父 QC、尚未投票。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6AB02-D2E2-4C1C-B62C-7B8B122E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安全条件满足其一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2AC8D-4CEF-4D1B-9C96-580C6CE0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提案扩展锁定节点，或 justification QC 的 View 严格更高。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446E4-37CB-4C25-9640-90235F6A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Demo 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BB478-489E-463A-9917-4669851A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STEP 2–5 依次展示 N1、N2、N3、N4 的投票。</a:t>
            </a:r>
          </a:p>
        </p:txBody>
      </p:sp>
    </p:spTree>
    <p:extLst>
      <p:ext uri="{BB962C8B-B14F-4D97-AF65-F5344CB8AC3E}">
        <p14:creationId xmlns:p14="http://schemas.microsoft.com/office/powerpoint/2010/main" val="3081000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18075-47E9-426E-8B5C-10869C6A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演示 2：投票形成 QC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BA498-BB3D-48C2-A1C5-63D17574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6FED7-1717-455F-B518-6A2D28D8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E8F84-1B0B-4F5B-AAB6-A2CA9552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继续单步到 STEP 6，观察 QC(B1) formed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86b6dca694d11"/>
          <a:stretch xmlns:a="http://schemas.openxmlformats.org/drawingml/2006/main"/>
        </p:blipFill>
        <p:spPr>
          <a:xfrm xmlns:a="http://schemas.openxmlformats.org/drawingml/2006/main">
            <a:off x="609600" y="1782509"/>
            <a:ext cx="10972800" cy="42454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064EA-ABCD-41C2-9FBF-12C3691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HighQC = B1，LockedQC = B0，Commit block = B0。</a:t>
            </a:r>
          </a:p>
        </p:txBody>
      </p:sp>
    </p:spTree>
    <p:extLst>
      <p:ext uri="{BB962C8B-B14F-4D97-AF65-F5344CB8AC3E}">
        <p14:creationId xmlns:p14="http://schemas.microsoft.com/office/powerpoint/2010/main" val="7987671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4B511-5B14-4115-8F48-0707CF5E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View change：新 Leader 延续已知进度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69D0D-8559-4291-B139-FC95A409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83B67-7202-4307-ABB6-17F1727F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48E6B-096E-41F7-95AC-DF7D1961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Leader(view) = ((view − 1) mod 4) + 1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409825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905000"/>
                <a:gridCol w="7258050"/>
              </a:tblGrid>
              <a:tr h="5753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View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Leader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成功路径的扩展点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</a:tr>
              <a:tr h="5753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N1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 / QC(B0)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5753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N2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 / QC(B1)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5753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N3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B2 / QC(B2)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5753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N4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B3 / QC(B3)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E8CEE-D8E1-4BC1-A93E-CA66CF54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现场停点：STEP 7 看角色切换，STEP 8 看新提案的父节点。</a:t>
            </a:r>
          </a:p>
        </p:txBody>
      </p:sp>
    </p:spTree>
    <p:extLst>
      <p:ext uri="{BB962C8B-B14F-4D97-AF65-F5344CB8AC3E}">
        <p14:creationId xmlns:p14="http://schemas.microsoft.com/office/powerpoint/2010/main" val="7598152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785B6-9A34-4499-A012-7B738BDF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演示 3：HighQC 与 LockedQC 分离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7B378-F995-4937-A16F-13B7228F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82E2D-43FA-4C09-BA7C-AA9C26CC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1FE73-6FEE-4225-985B-1CDC41E8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继续单步至 STEP 13，观察两种 QC 的不同位置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2dc0c08ec4e06"/>
          <a:stretch xmlns:a="http://schemas.openxmlformats.org/drawingml/2006/main"/>
        </p:blipFill>
        <p:spPr>
          <a:xfrm xmlns:a="http://schemas.openxmlformats.org/drawingml/2006/main">
            <a:off x="609600" y="1782509"/>
            <a:ext cx="10972800" cy="42454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8019E-7460-4DD0-8548-D6E110B1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QC(B2) 使 HighQC 前进到 B2，并使 LockedQC 前进到 B1。</a:t>
            </a:r>
          </a:p>
        </p:txBody>
      </p:sp>
    </p:spTree>
    <p:extLst>
      <p:ext uri="{BB962C8B-B14F-4D97-AF65-F5344CB8AC3E}">
        <p14:creationId xmlns:p14="http://schemas.microsoft.com/office/powerpoint/2010/main" val="19114239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AB0A7-F057-4E96-932A-5FAB4928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锁定规则：什么提案还能获得投票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AAD38-385F-43CD-9436-2B617729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35158-F3DC-44A4-91AB-593B5C5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6B3E1-EEC8-4972-B3C9-6E87AE5A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假设本地 LockedQC = QC(B1)，view = 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76475"/>
          <a:ext xmlns:a="http://schemas.openxmlformats.org/drawingml/2006/main" cx="109728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3714750"/>
                <a:gridCol w="3067050"/>
              </a:tblGrid>
              <a:tr h="7119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提案与 B1 的关系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携带 QC 的 View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safeNode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</a:tr>
              <a:tr h="7119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 B1 扩展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1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7119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偏离 B1 分支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1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71199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偏离 B1 分支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2，且证书有效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4E923-4689-4A55-BC21-8DE1B26D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0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较新证据允许切换扩展点，锁定条件阻止无依据的分支切换。</a:t>
            </a:r>
          </a:p>
        </p:txBody>
      </p:sp>
    </p:spTree>
    <p:extLst>
      <p:ext uri="{BB962C8B-B14F-4D97-AF65-F5344CB8AC3E}">
        <p14:creationId xmlns:p14="http://schemas.microsoft.com/office/powerpoint/2010/main" val="18198580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ABDF5-4B86-4B03-AC04-579D985B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多阶段认证与 Chained HotStuff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B00AA-3415-49B2-998A-1DC73A51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0B565-5F5D-4A19-B5B9-BBC78BFC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334000"/>
                <a:gridCol w="2924175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 B1 的观察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课堂 Demo 中的认证事件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 的状态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第一层证据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QC(B1)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已认证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后继继续支持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QC(B2)，B2 的父节点为 B1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锁定依据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再次延续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QC(B3)，连续链为 B1、B2、B3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已提交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C6959-EB01-4AC3-938A-D78450E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一个后继提案既推进自身，也推进祖先的认证深度。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BD353-AD4F-4121-A3F4-AD03C07B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Demo 使用收到 QC 后更新状态的教学时机。</a:t>
            </a:r>
          </a:p>
        </p:txBody>
      </p:sp>
    </p:spTree>
    <p:extLst>
      <p:ext uri="{BB962C8B-B14F-4D97-AF65-F5344CB8AC3E}">
        <p14:creationId xmlns:p14="http://schemas.microsoft.com/office/powerpoint/2010/main" val="10321237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BFDCD-E399-417D-8353-1EB23A38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演示 4：三链触发 Commit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A81F1-1175-40EC-99E2-69AAEE80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BF45C-E2CC-4994-A685-C9BAEFAC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820AE-D4D0-4503-85C5-336FAC79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继续单步至 STEP 20，观察三链首次提交 B1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ef9e6f6954ce8"/>
          <a:stretch xmlns:a="http://schemas.openxmlformats.org/drawingml/2006/main"/>
        </p:blipFill>
        <p:spPr>
          <a:xfrm xmlns:a="http://schemas.openxmlformats.org/drawingml/2006/main">
            <a:off x="609600" y="1782509"/>
            <a:ext cx="10972800" cy="42454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1D34C-9689-4090-A20D-16E8D31B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HighQC = B3，LockedQC = B2，Commit block = B1。</a:t>
            </a:r>
          </a:p>
        </p:txBody>
      </p:sp>
    </p:spTree>
    <p:extLst>
      <p:ext uri="{BB962C8B-B14F-4D97-AF65-F5344CB8AC3E}">
        <p14:creationId xmlns:p14="http://schemas.microsoft.com/office/powerpoint/2010/main" val="2199006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95EE3-367A-4515-AD9C-BC44A6CA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正常路径的精确停点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6E880-E160-4498-81AE-21DD931B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71A66-4847-42F6-A3DA-7804BB64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00375"/>
                <a:gridCol w="2085975"/>
                <a:gridCol w="2085975"/>
                <a:gridCol w="2085975"/>
              </a:tblGrid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 STEP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HighQC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LockedQC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Commit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Reset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Proposal B1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QC(B1)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 View 2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QC(B2)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B2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5633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QC(B3)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B3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B2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C7083-74C0-46DC-BBE7-6D45ACCB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每轮 7 步。一个 Next Step 推进一个队列事件。</a:t>
            </a:r>
          </a:p>
        </p:txBody>
      </p:sp>
    </p:spTree>
    <p:extLst>
      <p:ext uri="{BB962C8B-B14F-4D97-AF65-F5344CB8AC3E}">
        <p14:creationId xmlns:p14="http://schemas.microsoft.com/office/powerpoint/2010/main" val="13935761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A5724-EDC2-4D80-9381-17882CB8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安全性原理：交集、锁与提交证据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AC5B4-8A72-4025-AAB3-9F1A1EA6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5590D-450B-49F6-AE8C-5DA59A50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91D2D-7146-4379-876F-5C682102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同一 View：交集中的正确副本不会双投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E0D81-1021-4D5A-A62E-73880052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两份冲突的 3 票证书需要突破单次投票约束。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12778-62FD-4C00-BAA3-4DB2C4E0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跨 View：LockedQC 约束后续投票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6BC54-964A-46BA-869A-F2D7079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换 Leader 后，已形成的安全约束仍保留。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5ECF5-7BFF-4B9E-81B6-F64CB961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最终决定：连续认证积累提交证据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2D597-A237-4787-AFB3-A5F9946F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单份 QC、锁定和最终 Commit 表示不同深度。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A580E-1BFE-4876-A64C-436CDED4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Demo 展示这些机制的状态转换，完整安全性依赖原协议假设。</a:t>
            </a:r>
          </a:p>
        </p:txBody>
      </p:sp>
    </p:spTree>
    <p:extLst>
      <p:ext uri="{BB962C8B-B14F-4D97-AF65-F5344CB8AC3E}">
        <p14:creationId xmlns:p14="http://schemas.microsoft.com/office/powerpoint/2010/main" val="17947728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63339-BB8E-43EA-8732-49B07945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Timeout 与 Pacemaker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59EC9-7BDC-4B44-9C33-6C1EAAFC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DC433-3751-42EC-A7A5-ADE8C5B0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E3F59-175F-4F99-8C1F-AC3FD1F3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触发原因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32ACE-FD49-4CBD-8ECF-236BC25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Leader 不发提案、收不到三票，或 Leader 未广播 QC。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5D98F-2EFB-447F-A11B-589B4AD2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推进动作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BB873-C5D8-4F6C-AD5F-FE928300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等待本轮 timeout，进入下一 View，轮换 Leader。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EA114-0E0C-4D50-8FBE-E6D35F5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保留信息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BA0E7-69F1-4C6C-ADAB-2620B465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HighQC 和 LockedQC 随节点保留，新 Leader 延续已知证据。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AFDD4-6571-492D-9C85-DF4B89DA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B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B187"/>
                </a:solidFill>
                <a:latin typeface="Microsoft YaHei"/>
                <a:ea typeface="Microsoft YaHei"/>
                <a:cs typeface="Microsoft YaHei"/>
              </a:rPr>
              <a:t>Demo：3 个逻辑 tick。Pause 同时冻结协议和 timeout。</a:t>
            </a:r>
          </a:p>
        </p:txBody>
      </p:sp>
    </p:spTree>
    <p:extLst>
      <p:ext uri="{BB962C8B-B14F-4D97-AF65-F5344CB8AC3E}">
        <p14:creationId xmlns:p14="http://schemas.microsoft.com/office/powerpoint/2010/main" val="21301453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85717-7E25-46CD-AEC0-3250A523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演示 5：Leader 崩溃后继续认证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E2F89-BDEB-43CA-917A-7848E0B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38974-05F1-4A48-A237-4A129EC4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98183-97E2-4E5C-BA83-054D26F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Reset，Crash Leader，再点击 Next Step 共 11 次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cc4d25d2b4212"/>
          <a:stretch xmlns:a="http://schemas.openxmlformats.org/drawingml/2006/main"/>
        </p:blipFill>
        <p:spPr>
          <a:xfrm xmlns:a="http://schemas.openxmlformats.org/drawingml/2006/main">
            <a:off x="609600" y="1782509"/>
            <a:ext cx="10972800" cy="42454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9938D-9C0E-415F-8BC3-7F2E7D84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N1 的本地 View 冻结在 1，在线节点进入 View 2，N2 形成 QC(B1)。</a:t>
            </a:r>
          </a:p>
        </p:txBody>
      </p:sp>
    </p:spTree>
    <p:extLst>
      <p:ext uri="{BB962C8B-B14F-4D97-AF65-F5344CB8AC3E}">
        <p14:creationId xmlns:p14="http://schemas.microsoft.com/office/powerpoint/2010/main" val="11669103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730D7-0DE2-40EA-B64F-10FA903A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演示 6：一个副本不投票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1E230-2C94-4CE8-BD61-19CEEE88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1ADEE-33E8-4290-A5FA-11F39194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C2197-FD89-4D0B-A9FB-A4B5F023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Reset，选择 Node 4 withholds votes，单步到 STEP 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08d511c0941c6"/>
          <a:stretch xmlns:a="http://schemas.openxmlformats.org/drawingml/2006/main"/>
        </p:blipFill>
        <p:spPr>
          <a:xfrm xmlns:a="http://schemas.openxmlformats.org/drawingml/2006/main">
            <a:off x="609600" y="1782509"/>
            <a:ext cx="10972800" cy="42454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8D875-639E-42F6-B34D-0BABD8F8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QC(B1) 的 voters 为 N1、N2、N3，恰好满足 3 票门槛。</a:t>
            </a:r>
          </a:p>
        </p:txBody>
      </p:sp>
    </p:spTree>
    <p:extLst>
      <p:ext uri="{BB962C8B-B14F-4D97-AF65-F5344CB8AC3E}">
        <p14:creationId xmlns:p14="http://schemas.microsoft.com/office/powerpoint/2010/main" val="4031278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DECF2-5554-4D35-9DBD-BABC608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故障容忍的边界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1C7AB-EB06-4AF0-A168-AEC774C3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248B3-C297-4247-AA5F-5B9EA09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190750"/>
                <a:gridCol w="3448050"/>
              </a:tblGrid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最多可得票数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</a:tr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全部正常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 QC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一个节点不投票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仍可形成 QC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一个节点崩溃 + 另一个不投票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不能形成 QC，持续 timeout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6E550-30B7-4F7A-A35C-B6A56FD2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53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7DDB8"/>
                </a:solidFill>
                <a:latin typeface="Microsoft YaHei"/>
                <a:ea typeface="Microsoft YaHei"/>
                <a:cs typeface="Microsoft YaHei"/>
              </a:rPr>
              <a:t>门槛不会因故障自动降低。等待比无证据地提交更安全。</a:t>
            </a:r>
          </a:p>
        </p:txBody>
      </p:sp>
    </p:spTree>
    <p:extLst>
      <p:ext uri="{BB962C8B-B14F-4D97-AF65-F5344CB8AC3E}">
        <p14:creationId xmlns:p14="http://schemas.microsoft.com/office/powerpoint/2010/main" val="11017326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5B531-AFC1-489C-95FD-8FF6CB09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线性通信与乐观响应性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9DF4B-A100-46F8-819A-51E6F27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7960A-6FF7-4B32-B4ED-2D2E5577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91B6B-2C7D-4626-9800-88603567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线性通信：Leader 汇集投票，QC 汇总证据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55B79-3F70-45FF-8E52-EDDA003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原协议依赖紧凑的阈值签名证书，实现 O(n) 认证通信。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03143-F638-49DB-BD69-51302B0D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乐观响应性：收到足够响应就能推进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4B5A1-E035-4600-AD64-3C538A94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网络稳定且 Leader 正确后，进度取决于实际响应速度。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9FC19-6F75-4CB4-A8B7-BF202E21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Demo 观察边界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454FF-875C-4357-B12C-3B9DBE43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节点 ID 列表、中心化队列和 0.8 秒播放间隔不构成性能证明。</a:t>
            </a:r>
          </a:p>
        </p:txBody>
      </p:sp>
    </p:spTree>
    <p:extLst>
      <p:ext uri="{BB962C8B-B14F-4D97-AF65-F5344CB8AC3E}">
        <p14:creationId xmlns:p14="http://schemas.microsoft.com/office/powerpoint/2010/main" val="2910608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953DE-0F30-4589-B407-78C8FC83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当前 Demo 与原协议的边界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51103-4984-415B-9AC0-66303EDC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928B8-7A96-4C88-809A-05035CCA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19600"/>
                <a:gridCol w="4743450"/>
              </a:tblGrid>
              <a:tr h="59191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课堂实现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解释时的边界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</a:tr>
              <a:tr h="59191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voters 节点 ID 列表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没有真实签名验证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59191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换届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读取在线节点 HighQC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 NEW-VIEW 交换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59191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计时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中心队列与逻辑 tick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没有独立节点时钟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59191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 QC 时检查连续三链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保守的教学提交规则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59191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崩溃、扣留投票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没有恶意分叉或双签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59191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可信同伴复制状态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没有状态同步证明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6813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40FC8-FB4E-4CB7-8443-F7A3E63D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现场演示速查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EB921-DADD-4CBA-A44F-97117C25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C07B1-9AF1-4E08-B6A4-AF7831A8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2752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429250"/>
                <a:gridCol w="3448050"/>
              </a:tblGrid>
              <a:tr h="688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操作与停点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87B7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讲解重点</a:t>
                      </a:r>
                    </a:p>
                  </a:txBody>
                  <a:tcPr marL="91440" marR="91440" marT="45720" marB="45720">
                    <a:solidFill>
                      <a:srgbClr val="233750"/>
                    </a:solidFill>
                  </a:tcPr>
                </a:tc>
              </a:tr>
              <a:tr h="688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正常流程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Reset；STEP 1 / 6 / 13 / 20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提案、认证、锁定、提交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  <a:tr h="688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Leader 崩溃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Reset；Crash Leader；STEP 5 / 11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Timeout、换届、三票认证</a:t>
                      </a:r>
                    </a:p>
                  </a:txBody>
                  <a:tcPr marL="91440" marR="91440" marT="45720" marB="45720">
                    <a:solidFill>
                      <a:srgbClr val="172232"/>
                    </a:solidFill>
                  </a:tcPr>
                </a:tc>
              </a:tr>
              <a:tr h="688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副本不投票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Reset；N4 withholds votes；STEP 6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8EE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f=1，quorum=3</a:t>
                      </a:r>
                    </a:p>
                  </a:txBody>
                  <a:tcPr marL="91440" marR="91440" marT="45720" marB="45720">
                    <a:solidFill>
                      <a:srgbClr val="0D131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C4C84-E9EA-421D-8EF5-B28E738B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http://localhost:8000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9818C-2B9C-4617-ABD3-4107E36C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Start 自动播放；Pause 停止；Next Step 精确推进；Reset 开始新场景。</a:t>
            </a:r>
          </a:p>
        </p:txBody>
      </p:sp>
    </p:spTree>
    <p:extLst>
      <p:ext uri="{BB962C8B-B14F-4D97-AF65-F5344CB8AC3E}">
        <p14:creationId xmlns:p14="http://schemas.microsoft.com/office/powerpoint/2010/main" val="20491374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D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63527-5698-42A5-ACEC-E81CD4B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协议要点回顾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128E1-29D9-4FBF-B198-B9B4959D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HotStuff /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20AB5-FDDB-4EED-87A5-E47B7E2E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8A238-A5EA-40CD-BAE2-D2008F9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QC 记录认证，Lock 约束后续，Commit 确认决定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BDD7D-846E-4EAF-B0A4-D75D505A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三者对应不同的协议状态。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94134-E232-4393-A5C9-30E1D883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换届延续证据，故障不会降低投票门槛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D5B73-0B78-4BF1-92D6-4391E61A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HighQC 支持继续扩展，quorum 仍然是 3。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4052D-2E30-41C8-A106-C5AECF17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7B7FF"/>
                </a:solidFill>
                <a:latin typeface="Microsoft YaHei"/>
                <a:ea typeface="Microsoft YaHei"/>
                <a:cs typeface="Microsoft YaHei"/>
              </a:rPr>
              <a:t>三链将后继认证用于祖先的最终性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9DF83-88E1-4700-939F-58391D8A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EEF6"/>
                </a:solidFill>
                <a:latin typeface="Microsoft YaHei"/>
                <a:ea typeface="Microsoft YaHei"/>
                <a:cs typeface="Microsoft YaHei"/>
              </a:rPr>
              <a:t>现场可在 STEP 20 看到第一次新提交。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B1F9D-E28D-417C-9CC3-7E0AF2C6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4B4C8"/>
                </a:solidFill>
                <a:latin typeface="Microsoft YaHei"/>
                <a:ea typeface="Microsoft YaHei"/>
                <a:cs typeface="Microsoft YaHei"/>
              </a:rPr>
              <a:t>参考：HotStuff，PODC 2019，§3–6；本项目 node.py 与 hotstuff.py</a:t>
            </a:r>
          </a:p>
        </p:txBody>
      </p:sp>
    </p:spTree>
    <p:extLst>
      <p:ext uri="{BB962C8B-B14F-4D97-AF65-F5344CB8AC3E}">
        <p14:creationId xmlns:p14="http://schemas.microsoft.com/office/powerpoint/2010/main" val="1043824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2026-09-21T02:30:21.9500000Z</dcterms:created>
  <dcterms:modified xsi:type="dcterms:W3CDTF">2026-09-21T02:30:21.9500000Z</dcterms:modified>
</coreProperties>
</file>