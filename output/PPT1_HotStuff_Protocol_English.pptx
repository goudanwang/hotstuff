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9b1a64da29468e" /><Relationship Type="http://schemas.openxmlformats.org/officeDocument/2006/relationships/extended-properties" Target="/docProps/app.xml" Id="R85f09886c7074033" /><Relationship Type="http://schemas.openxmlformats.org/officeDocument/2006/relationships/officeDocument" Target="/ppt/presentation.xml" Id="R9d42bd48aecc436b" /></Relationships>
</file>

<file path=ppt/presentation.xml><?xml version="1.0" encoding="utf-8"?>
<p:presentation xmlns:p="http://schemas.openxmlformats.org/presentationml/2006/main">
  <p:sldMasterIdLst>
    <p:sldMasterId xmlns:r="http://schemas.openxmlformats.org/officeDocument/2006/relationships" id="2147483648" r:id="Rc1fed25cc10f47c0"/>
  </p:sldMasterIdLst>
  <p:notesMasterIdLst>
    <p:notesMasterId xmlns:r="http://schemas.openxmlformats.org/officeDocument/2006/relationships" r:id="R3c691aefcdef494f"/>
  </p:notesMasterIdLst>
  <p:sldIdLst>
    <p:sldId xmlns:r="http://schemas.openxmlformats.org/officeDocument/2006/relationships" id="256" r:id="Rf18a383a50404d33"/>
    <p:sldId xmlns:r="http://schemas.openxmlformats.org/officeDocument/2006/relationships" id="257" r:id="R48e71eccadac45cd"/>
    <p:sldId xmlns:r="http://schemas.openxmlformats.org/officeDocument/2006/relationships" id="258" r:id="R26ba9c9a877845e9"/>
    <p:sldId xmlns:r="http://schemas.openxmlformats.org/officeDocument/2006/relationships" id="259" r:id="Rf40438fa29f444f4"/>
    <p:sldId xmlns:r="http://schemas.openxmlformats.org/officeDocument/2006/relationships" id="260" r:id="R7f276cea88b64087"/>
    <p:sldId xmlns:r="http://schemas.openxmlformats.org/officeDocument/2006/relationships" id="261" r:id="R75e971b7f1da4c31"/>
    <p:sldId xmlns:r="http://schemas.openxmlformats.org/officeDocument/2006/relationships" id="262" r:id="R3eec25c666584994"/>
    <p:sldId xmlns:r="http://schemas.openxmlformats.org/officeDocument/2006/relationships" id="263" r:id="R43315bb5e8f94a47"/>
    <p:sldId xmlns:r="http://schemas.openxmlformats.org/officeDocument/2006/relationships" id="264" r:id="R227a0278c6034ec3"/>
    <p:sldId xmlns:r="http://schemas.openxmlformats.org/officeDocument/2006/relationships" id="265" r:id="Ra27b11b376674fd3"/>
    <p:sldId xmlns:r="http://schemas.openxmlformats.org/officeDocument/2006/relationships" id="266" r:id="R6b49bbc653d0420e"/>
    <p:sldId xmlns:r="http://schemas.openxmlformats.org/officeDocument/2006/relationships" id="267" r:id="R697ba5e3dbf04f52"/>
    <p:sldId xmlns:r="http://schemas.openxmlformats.org/officeDocument/2006/relationships" id="268" r:id="R153ced4280384800"/>
    <p:sldId xmlns:r="http://schemas.openxmlformats.org/officeDocument/2006/relationships" id="269" r:id="R38c696e4f4e6419e"/>
    <p:sldId xmlns:r="http://schemas.openxmlformats.org/officeDocument/2006/relationships" id="270" r:id="R8ed425be0789496a"/>
    <p:sldId xmlns:r="http://schemas.openxmlformats.org/officeDocument/2006/relationships" id="271" r:id="Ra676403a79be4aef"/>
    <p:sldId xmlns:r="http://schemas.openxmlformats.org/officeDocument/2006/relationships" id="272" r:id="R70f14730ff904af4"/>
    <p:sldId xmlns:r="http://schemas.openxmlformats.org/officeDocument/2006/relationships" id="273" r:id="Ra85750b9d0f04b0d"/>
    <p:sldId xmlns:r="http://schemas.openxmlformats.org/officeDocument/2006/relationships" id="274" r:id="R341fa2ab9abe481e"/>
    <p:sldId xmlns:r="http://schemas.openxmlformats.org/officeDocument/2006/relationships" id="275" r:id="R93fbf9ec798946d7"/>
    <p:sldId xmlns:r="http://schemas.openxmlformats.org/officeDocument/2006/relationships" id="276" r:id="Rc3430db265b547d6"/>
    <p:sldId xmlns:r="http://schemas.openxmlformats.org/officeDocument/2006/relationships" id="277" r:id="R759c87d7275d43a8"/>
    <p:sldId xmlns:r="http://schemas.openxmlformats.org/officeDocument/2006/relationships" id="278" r:id="R727d0f2304c84612"/>
    <p:sldId xmlns:r="http://schemas.openxmlformats.org/officeDocument/2006/relationships" id="279" r:id="R6897f8c27f874a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cd877402904ccb" /><Relationship Type="http://schemas.openxmlformats.org/officeDocument/2006/relationships/slideMaster" Target="/ppt/slideMasters/slideMaster1.xml" Id="Rc1fed25cc10f47c0" /><Relationship Type="http://schemas.openxmlformats.org/officeDocument/2006/relationships/notesMaster" Target="/ppt/notesMasters/notesMaster1.xml" Id="R3c691aefcdef494f" /><Relationship Type="http://schemas.openxmlformats.org/officeDocument/2006/relationships/presProps" Target="/ppt/presProps.xml" Id="Rf233de1262cf4b59" /><Relationship Type="http://schemas.openxmlformats.org/officeDocument/2006/relationships/tableStyles" Target="/ppt/tableStyles.xml" Id="R6cba94cc6584465f" /><Relationship Type="http://schemas.openxmlformats.org/officeDocument/2006/relationships/slide" Target="/ppt/slides/slide1.xml" Id="Rf18a383a50404d33" /><Relationship Type="http://schemas.openxmlformats.org/officeDocument/2006/relationships/slide" Target="/ppt/slides/slide2.xml" Id="R48e71eccadac45cd" /><Relationship Type="http://schemas.openxmlformats.org/officeDocument/2006/relationships/slide" Target="/ppt/slides/slide3.xml" Id="R26ba9c9a877845e9" /><Relationship Type="http://schemas.openxmlformats.org/officeDocument/2006/relationships/slide" Target="/ppt/slides/slide4.xml" Id="Rf40438fa29f444f4" /><Relationship Type="http://schemas.openxmlformats.org/officeDocument/2006/relationships/slide" Target="/ppt/slides/slide5.xml" Id="R7f276cea88b64087" /><Relationship Type="http://schemas.openxmlformats.org/officeDocument/2006/relationships/slide" Target="/ppt/slides/slide6.xml" Id="R75e971b7f1da4c31" /><Relationship Type="http://schemas.openxmlformats.org/officeDocument/2006/relationships/slide" Target="/ppt/slides/slide7.xml" Id="R3eec25c666584994" /><Relationship Type="http://schemas.openxmlformats.org/officeDocument/2006/relationships/slide" Target="/ppt/slides/slide8.xml" Id="R43315bb5e8f94a47" /><Relationship Type="http://schemas.openxmlformats.org/officeDocument/2006/relationships/slide" Target="/ppt/slides/slide9.xml" Id="R227a0278c6034ec3" /><Relationship Type="http://schemas.openxmlformats.org/officeDocument/2006/relationships/slide" Target="/ppt/slides/slide10.xml" Id="Ra27b11b376674fd3" /><Relationship Type="http://schemas.openxmlformats.org/officeDocument/2006/relationships/slide" Target="/ppt/slides/slide11.xml" Id="R6b49bbc653d0420e" /><Relationship Type="http://schemas.openxmlformats.org/officeDocument/2006/relationships/slide" Target="/ppt/slides/slide12.xml" Id="R697ba5e3dbf04f52" /><Relationship Type="http://schemas.openxmlformats.org/officeDocument/2006/relationships/slide" Target="/ppt/slides/slide13.xml" Id="R153ced4280384800" /><Relationship Type="http://schemas.openxmlformats.org/officeDocument/2006/relationships/slide" Target="/ppt/slides/slide14.xml" Id="R38c696e4f4e6419e" /><Relationship Type="http://schemas.openxmlformats.org/officeDocument/2006/relationships/slide" Target="/ppt/slides/slide15.xml" Id="R8ed425be0789496a" /><Relationship Type="http://schemas.openxmlformats.org/officeDocument/2006/relationships/slide" Target="/ppt/slides/slide16.xml" Id="Ra676403a79be4aef" /><Relationship Type="http://schemas.openxmlformats.org/officeDocument/2006/relationships/slide" Target="/ppt/slides/slide17.xml" Id="R70f14730ff904af4" /><Relationship Type="http://schemas.openxmlformats.org/officeDocument/2006/relationships/slide" Target="/ppt/slides/slide18.xml" Id="Ra85750b9d0f04b0d" /><Relationship Type="http://schemas.openxmlformats.org/officeDocument/2006/relationships/slide" Target="/ppt/slides/slide19.xml" Id="R341fa2ab9abe481e" /><Relationship Type="http://schemas.openxmlformats.org/officeDocument/2006/relationships/slide" Target="/ppt/slides/slide20.xml" Id="R93fbf9ec798946d7" /><Relationship Type="http://schemas.openxmlformats.org/officeDocument/2006/relationships/slide" Target="/ppt/slides/slide21.xml" Id="Rc3430db265b547d6" /><Relationship Type="http://schemas.openxmlformats.org/officeDocument/2006/relationships/slide" Target="/ppt/slides/slide22.xml" Id="R759c87d7275d43a8" /><Relationship Type="http://schemas.openxmlformats.org/officeDocument/2006/relationships/slide" Target="/ppt/slides/slide23.xml" Id="R727d0f2304c84612" /><Relationship Type="http://schemas.openxmlformats.org/officeDocument/2006/relationships/slide" Target="/ppt/slides/slide24.xml" Id="R6897f8c27f874a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9eed984ba744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31070cebeb46cd" /><Relationship Type="http://schemas.openxmlformats.org/officeDocument/2006/relationships/notesMaster" Target="/ppt/notesMasters/notesMaster1.xml" Id="R7827198af0f64b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1bb53fa20c4f12" /><Relationship Type="http://schemas.openxmlformats.org/officeDocument/2006/relationships/notesMaster" Target="/ppt/notesMasters/notesMaster1.xml" Id="Rc427991ddccb4f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a26170f9ee416d" /><Relationship Type="http://schemas.openxmlformats.org/officeDocument/2006/relationships/notesMaster" Target="/ppt/notesMasters/notesMaster1.xml" Id="R77da3507800f42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6c92ce2e84485c" /><Relationship Type="http://schemas.openxmlformats.org/officeDocument/2006/relationships/notesMaster" Target="/ppt/notesMasters/notesMaster1.xml" Id="R29a836cb97e441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967de1d1bd41fb" /><Relationship Type="http://schemas.openxmlformats.org/officeDocument/2006/relationships/notesMaster" Target="/ppt/notesMasters/notesMaster1.xml" Id="R520ea26bf84549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44e96d5662498f" /><Relationship Type="http://schemas.openxmlformats.org/officeDocument/2006/relationships/notesMaster" Target="/ppt/notesMasters/notesMaster1.xml" Id="Ra14e114c02584a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5fb7ec1c224053" /><Relationship Type="http://schemas.openxmlformats.org/officeDocument/2006/relationships/notesMaster" Target="/ppt/notesMasters/notesMaster1.xml" Id="Rda6220d5ce504b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81584d86fa40f0" /><Relationship Type="http://schemas.openxmlformats.org/officeDocument/2006/relationships/notesMaster" Target="/ppt/notesMasters/notesMaster1.xml" Id="Ra474dd5f564c4b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91df99ce9b4e1e" /><Relationship Type="http://schemas.openxmlformats.org/officeDocument/2006/relationships/notesMaster" Target="/ppt/notesMasters/notesMaster1.xml" Id="R184d6fc9f13546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157ed2093540f9" /><Relationship Type="http://schemas.openxmlformats.org/officeDocument/2006/relationships/notesMaster" Target="/ppt/notesMasters/notesMaster1.xml" Id="R9d489e7b559b4f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0e71a73efc4ad8" /><Relationship Type="http://schemas.openxmlformats.org/officeDocument/2006/relationships/notesMaster" Target="/ppt/notesMasters/notesMaster1.xml" Id="R4b3c606c9c364e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98a7ce36ad4d2b" /><Relationship Type="http://schemas.openxmlformats.org/officeDocument/2006/relationships/notesMaster" Target="/ppt/notesMasters/notesMaster1.xml" Id="R30d845f37ed641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c6937c223b40cd" /><Relationship Type="http://schemas.openxmlformats.org/officeDocument/2006/relationships/notesMaster" Target="/ppt/notesMasters/notesMaster1.xml" Id="Rdb684c15f4264d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0efc3044f5457f" /><Relationship Type="http://schemas.openxmlformats.org/officeDocument/2006/relationships/notesMaster" Target="/ppt/notesMasters/notesMaster1.xml" Id="R16f6860ea77047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e4fa87ef874693" /><Relationship Type="http://schemas.openxmlformats.org/officeDocument/2006/relationships/notesMaster" Target="/ppt/notesMasters/notesMaster1.xml" Id="Rfefae0bebb8b40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9f8ee739704ee2" /><Relationship Type="http://schemas.openxmlformats.org/officeDocument/2006/relationships/notesMaster" Target="/ppt/notesMasters/notesMaster1.xml" Id="R87caaa1ef52d4e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f3e13a0d194a78" /><Relationship Type="http://schemas.openxmlformats.org/officeDocument/2006/relationships/notesMaster" Target="/ppt/notesMasters/notesMaster1.xml" Id="R7572bd2ece8d4f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b7f22bd7934fdc" /><Relationship Type="http://schemas.openxmlformats.org/officeDocument/2006/relationships/notesMaster" Target="/ppt/notesMasters/notesMaster1.xml" Id="R2f003ed1e56d46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9c12148ec9411b" /><Relationship Type="http://schemas.openxmlformats.org/officeDocument/2006/relationships/notesMaster" Target="/ppt/notesMasters/notesMaster1.xml" Id="Rd54fde846ce047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e570861aca945e8" /><Relationship Type="http://schemas.openxmlformats.org/officeDocument/2006/relationships/notesMaster" Target="/ppt/notesMasters/notesMaster1.xml" Id="R32ff34aa999a40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ee62880253454a" /><Relationship Type="http://schemas.openxmlformats.org/officeDocument/2006/relationships/notesMaster" Target="/ppt/notesMasters/notesMaster1.xml" Id="Rf0206591c9404a0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d03c7d5c8f414b" /><Relationship Type="http://schemas.openxmlformats.org/officeDocument/2006/relationships/notesMaster" Target="/ppt/notesMasters/notesMaster1.xml" Id="Rda9f69e921b34c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f27de7ec904748" /><Relationship Type="http://schemas.openxmlformats.org/officeDocument/2006/relationships/notesMaster" Target="/ppt/notesMasters/notesMaster1.xml" Id="R36abcc848327459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0195cd234d042c1" /><Relationship Type="http://schemas.openxmlformats.org/officeDocument/2006/relationships/notesMaster" Target="/ppt/notesMasters/notesMaster1.xml" Id="R345145f056bb45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session explains how replicas agree on the order of proposals. B0, B1 and B2 are protocol proposal nodes with parent pointers and empty payloads. Focus on View, Proposal, Vote, QC, Lock and Commit. Allow 25–30 minutes, including about eight minutes of live demonstration. The slide labels match the English dashboard controls.</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safety from liveness. Safety means that correct replicas do not commit conflicting histories. Liveness means that decisions eventually continue under the required network and leadership conditions. HotStuff assumes fixed membership, authenticated communication and partial synchrony, with at most f Byzantine replicas. Partial synchrony means that message delays have a bound after an unknown global stabilization time, GST. It does not mean that the network is always fast. This demo uses a deterministic message queue and cannot prove safety under arbitrary network behavior.</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n=3f+1, choose q=2f+1. Here n=4 and f=1, so q=3. Any two sets of three replicas overlap in at least two replicas, at least one of which must be correct. Compare {N1,N2,N3} with {N2,N3,N4}: the intersection is N2 and N3. A correct replica votes at most once per view, so two conflicting proposals in the same view cannot both gather three votes. Across different views, quorum intersection alone is insufficient. The locking rule carries the safety constraint forward.</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mechanisms as the main thread of the lecture. A QC turns votes into evidence that later messages can carry. HighQC helps a new leader choose where to extend, while LockedQC constrains what each replica may accept. Chained HotStuff spreads certification across linked proposals, so successors help ancestors reach finality. The pacemaker coordinates progress and view changes. Voting and locking enforce safety. Linear communication and optimistic responsiveness are explained later. The demo's fixed 0.8-second playback interval is not a protocol performance measurement.</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 block is only a proposal node in the consensus protocol. We do not discuss payloads or applications. View is the logical round, and the view determines the leader. HighQC is the certificate with the highest view known locally. LockedQC is the certificate used by the safety predicate. Latest block may be a proposal that just arrived. Commit block is the newest ancestor that the replica has already decided. Keep proposed, certified and committed states distinct.</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http://localhost:8000 and click Reset. Confirm PAUSED and STEP 0. Do not submit any payload. Point out View 1, N1 as Leader and the other nodes as Replica. All four replicas show B0 for HighQC, LockedQC and Commit block. Start runs automatically. Pause stops playback. Next Step pauses automatic execution and advances exactly one event. During this protocol session, focus on the upper dashboard and Event log.</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Next Step once. The log shows Leader N1 proposes B1. N1 extends B0, the node certified by its HighQC, and includes QC(B0). Explain that B1.parent_id is B0 and B1.qc is QC(B0). A proposal carries its parent's certificate. QC(B1) does not yet exist. All live replicas receive B1, so Latest block becomes B1. Receipt of a proposal does not certify or commit it.</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From STEP 1, click Next Step four times to observe votes from N1, N2, N3 and N4. The leader also votes. Before voting, a replica checks the current view, the designated leader, a known valid parent QC and whether it has already voted in this view. The proposal must then extend the locked node or carry a justification QC whose view is strictly higher than the local LockedQC view. Equality is insufficient for the second condition. The later example explains both branches. The demo does not actively create malicious forks, so use the rule and the examples to explain that case.</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to cumulative STEP 6. If the previous slide left the demo at STEP 5, click only once. At STEP 4, the third vote already satisfies the threshold. The queue processes N4's already-scheduled vote before broadcasting the QC at STEP 6, so the normal certificate lists four voters. The threshold is still three. QC(B1) certifies B1 but does not finalize it. HighQC advances to B1, while the lock and commit remain at B0. The fault experiment later shows a QC with exactly three voters.</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7 enters View 2 and changes the leader from N1 to N2. At STEP 8, N2 uses QC(B1) to propose B2. In this implementation, the new leader directly reads the live replicas' HighQCs and selects the highest. This represents a simplified NEW-VIEW information exchange, not a complete network implementation. Changing roles does not erase certificates or locks. A view is a logical round and may increase after a timeout even if no proposal succeeded.</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Stop at STEP 13. All four replicas have received QC(B2). HighQC=B2 describes the latest certified progress they know. LockedQC=B1 constrains subsequent votes using B1's branch. The proposal B2 already carries QC(B1), so receiving QC(B2) provides the trigger for locking its parent B1 in this demo. Commit block remains B0. HighQC and LockedQC have different responsibilities and need not be equal. The teaching implementation updates them atomically when a QC arrives.</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the local lock is QC(B1) from View 1. A proposal that extends B1 passes the first safety condition. A proposal on a conflicting branch with a QC view at most 1 fails. A proposal that does not extend the local lock but carries a valid QC from View 2 can pass the newer-QC condition. This table discusses only safeNode. The current-view, leader, certificate and one-vote checks still apply. The newer QC must be valid. A larger number by itself is not evidence.</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Basic HotStuff uses prepare, pre-commit and commit certification phases, followed by a decide notification. Chained HotStuff distributes phase progress across linked proposals. For B1, certification of its successors B2 and B3 increases the depth of evidence supporting it. The table explains the correspondence in this classroom implementation. Do not equate Basic HotStuff message phases literally with the demo's separate views. The demo broadcasts a completed QC and updates state immediately. The paper's chained pseudocode also specifies its own message triggers and pipeline details.</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STEP 20, the log shows both QC(B3) formed and B1 committed. B1, B2 and B3 are directly linked, their views are 1, 2 and 3, and all three have certificates. The oldest node, B1, commits. B2 and the latest proposal B3 remain uncommitted. This implementation requires consecutive views. Skipping a view postpones commitment until a new consecutive three-chain appears. Commit extends the history of final decisions. It has a different meaning from simply receiving the latest QC.</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as the live demonstration script. Begin with Reset and use Next Step throughout. Mixing automatic playback with manual steps can skip a planned checkpoint. A normal view takes seven steps: one proposal, four vote events, one QC event and one view change. STEP 20 is the third QC event. STEP 21 enters View 4. B0 is committed at initialization, so B1 is the first newly committed node. Ask the audience to predict the three fields at STEP 13 before advancing to it.</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mechanisms. Quorum intersection and one vote per view constrain conflicting certificates within a view. The locking rule carries a constraint into later views. A larger view number alone does not remove it. Multiple certification stages establish constraints at enough correct replicas to support compatible final decisions. This is a mechanism-level explanation, not a proof that the teaching code resists every malicious attack. A full proof depends on the authentication, message rules and model assumptions in the paper.</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rules cannot force a leader to send messages, so the protocol needs a progress mechanism. A timeout signals suspicion that the current view cannot progress. It does not prove malicious behavior. The pacemaker helps correct replicas converge on suitable views and helps a new leader obtain QC information. The demo uses one coordinator to advance all live replicas and three logical ticks to show the wait. Pausing freezes the ticks. Independent node clocks, timeout certificates and network partitions are outside this simulation.</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Reset, then click Crash Leader. The fault button does not increase STEP. At STEP 1, N1 sends no proposal. STEPS 2, 3 and 4 show countdown values 3, 2 and 1. STEP 5 enters View 2 with leader N2. STEP 6 proposes B1: no proposal existed in the previous view, so the first proposal still has ID B1. STEP 7 skips N1's vote. STEPS 8–10 are the votes from N2, N3 and N4. STEP 11 forms QC(B1) with those three voters. Continuing to STEP 25 commits B1 through consecutive Views 2, 3 and 4. Recover Nodes catches up the offline replica and clears the faults.</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Reset, choose Node 4 withholds votes. N1 proposes at STEP 1. N1, N2 and N3 vote at STEPS 2–4. STEP 5 logs that N4 skips its vote. STEP 6 forms a QC with three voters. Compare it with the four-voter certificate in the normal path. N4 still receives QCs, so its HighQC advances as well. The fault only withholds votes. N4 still proposes when it becomes leader. This experiment does not include equivocation or malicious forks and does not test the full Byzantine attack model.</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audience to compare losing one vote with losing two. With f=1, three remaining replicas can still form a quorum. If N1 crashes while N4 withholds votes, only N2 and N3 can vote. When N2 leads, it gathers two votes and times out. It must not invent a QC. Optional experiment: Reset, Crash Leader, select Node 4 withholds votes. N2 proposes at STEP 6. Voting finishes at STEP 10. STEPS 11–13 count down, and STEP 14 enters View 3 without a new QC. Recover Nodes clears the faults. Two failures exceed the f=1 assumption, so liveness is not guaranteed.</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conditions behind linear communication. The original protocol combines a leader that collects votes with compact threshold-signature QCs. This supports linear authenticator communication for phase progress and successful leader replacement. Counting messages alone does not determine their total size: broadcasting a long voter list still carries a size cost. Optimistic responsiveness means that after the network stabilizes and a correct leader takes over, progress follows actual responses rather than waiting the worst-case network delay at each phase. Timeouts remain necessary. This demo has no threshold signatures and uses a central pacemaker and fixed playback timing, so it is not a performance benchmark.</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distinguish the implementation from the paper. The teaching version retains views, leaders, proposals, votes, HighQC, LockedQC, parent pointers and three-chain commits. Node IDs replace real signatures. A direct read of live replicas' HighQCs stands in for NEW-VIEW exchange. One coordinator and logical ticks replace a complete pacemaker. The commit rule requires consecutive views. A recovering node copies state from a trusted peer. Arbitrary Byzantine behavior and network partitions are not modeled, so the experiments illustrate behavior within these simulation constraints.</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slide visible while running the live demo. Reset before every scenario so that one experiment does not leave faults active in the next. For the normal path, stop at cumulative STEPS 1, 6, 13 and 20. For the leader crash, stop at STEPS 5 and 11 to inspect the new leader and QC, then recover the nodes. For the withheld-vote case, stop at STEP 6 and inspect the log for voters N1, N2 and N3. Fault and control buttons do not add to STEP. Only Next Step and automatic execution ticks advance it. The dashboard labels are in English.</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questions. Why does QC(B1) not immediately commit B1? It is the first layer of evidence, and certification of successors supplies the remaining commit evidence. Can a new leader start from any node? It selects an extension point using HighQC, and replicas still enforce their locking rule. Why can one replica withhold a vote without stopping progress? Three remaining votes meet 2f+1. Why can two failures cause repeated timeouts? There are too few votes for a quorum. Finish by distinguishing safety constraints from the mechanisms that drive liveness. Refer to Sections 3–6 of the paper and to node.py and hotstuff.py in this project.</a:t>
            </a:r>
          </a:p>
          <a:p xmlns:a="http://schemas.openxmlformats.org/drawingml/2006/main">
            <a:r>
              <a:t/>
            </a:r>
          </a:p>
          <a:p xmlns:a="http://schemas.openxmlformats.org/drawingml/2006/main">
            <a:r>
              <a:t>References</a:t>
            </a:r>
          </a:p>
          <a:p xmlns:a="http://schemas.openxmlformats.org/drawingml/2006/main">
            <a:r>
              <a:t>HotStuff (PODC 2019), Sections 3–6 and the safety appendices: https://arxiv.org/html/1803.05069v6</a:t>
            </a:r>
          </a:p>
          <a:p xmlns:a="http://schemas.openxmlformats.org/drawingml/2006/main">
            <a:r>
              <a:t>Authors' reference implementation: https://github.com/hot-stuff/libhotstuff</a:t>
            </a:r>
          </a:p>
          <a:p xmlns:a="http://schemas.openxmlformats.org/drawingml/2006/main">
            <a:r>
              <a:t>Project sources: backend/node.py, backend/hotstuff.py and README.md.</a:t>
            </a:r>
          </a:p>
          <a:p xmlns:a="http://schemas.openxmlformats.org/drawingml/2006/main">
            <a:r>
              <a:t>Screenshots show the protocol area of an isolated instance of the same demo. Live demonstration: http://localhost:8000.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2815db83384a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20d9ad0a9f42b7" /><Relationship Type="http://schemas.openxmlformats.org/officeDocument/2006/relationships/slideLayout" Target="/ppt/slideLayouts/slideLayout1.xml" Id="Rd25bf98068f244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5bf98068f244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c71e321fc047ca" /><Relationship Type="http://schemas.openxmlformats.org/officeDocument/2006/relationships/notesSlide" Target="/ppt/notesSlides/notesSlide1.xml" Id="R94f4ee24d9844a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3798dc9d6f4f51" /><Relationship Type="http://schemas.openxmlformats.org/officeDocument/2006/relationships/notesSlide" Target="/ppt/notesSlides/notesSlide2.xml" Id="Reaa9453b3da94d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44a61450e444bc" /><Relationship Type="http://schemas.openxmlformats.org/officeDocument/2006/relationships/notesSlide" Target="/ppt/notesSlides/notesSlide3.xml" Id="R99ff6e37117743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b6caae655a46d8" /><Relationship Type="http://schemas.openxmlformats.org/officeDocument/2006/relationships/notesSlide" Target="/ppt/notesSlides/notesSlide4.xml" Id="R3b2f4d0ed14f4b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c9e5f35e974679" /><Relationship Type="http://schemas.openxmlformats.org/officeDocument/2006/relationships/notesSlide" Target="/ppt/notesSlides/notesSlide5.xml" Id="R1e50aa31dfb444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f384a6b8f34ffb" /><Relationship Type="http://schemas.openxmlformats.org/officeDocument/2006/relationships/image" Target="/ppt/media/image.png" Id="R65dfd3b13a7c4f16" /><Relationship Type="http://schemas.openxmlformats.org/officeDocument/2006/relationships/notesSlide" Target="/ppt/notesSlides/notesSlide6.xml" Id="R7c3d4f9d4b4145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d2438ebca044f4" /><Relationship Type="http://schemas.openxmlformats.org/officeDocument/2006/relationships/image" Target="/ppt/media/image2.png" Id="R23436c86c39b4036" /><Relationship Type="http://schemas.openxmlformats.org/officeDocument/2006/relationships/notesSlide" Target="/ppt/notesSlides/notesSlide7.xml" Id="Ra33395a907e147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fa2f64dc9947c7" /><Relationship Type="http://schemas.openxmlformats.org/officeDocument/2006/relationships/notesSlide" Target="/ppt/notesSlides/notesSlide8.xml" Id="Ra74881bc11b54e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ea64fc2137454a" /><Relationship Type="http://schemas.openxmlformats.org/officeDocument/2006/relationships/image" Target="/ppt/media/image3.png" Id="R4e19f08758684759" /><Relationship Type="http://schemas.openxmlformats.org/officeDocument/2006/relationships/notesSlide" Target="/ppt/notesSlides/notesSlide9.xml" Id="R237e046e54504d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788bbffaca45bb" /><Relationship Type="http://schemas.openxmlformats.org/officeDocument/2006/relationships/notesSlide" Target="/ppt/notesSlides/notesSlide10.xml" Id="R77cb2b4a1f494e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5d787eb28d94f3b" /><Relationship Type="http://schemas.openxmlformats.org/officeDocument/2006/relationships/image" Target="/ppt/media/image4.png" Id="R756858fcc26d4e61" /><Relationship Type="http://schemas.openxmlformats.org/officeDocument/2006/relationships/notesSlide" Target="/ppt/notesSlides/notesSlide11.xml" Id="Rd7c8031f42a049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a6aa00b5942428b" /><Relationship Type="http://schemas.openxmlformats.org/officeDocument/2006/relationships/notesSlide" Target="/ppt/notesSlides/notesSlide12.xml" Id="Re4d3c34469064d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f9ec89a9cd457d" /><Relationship Type="http://schemas.openxmlformats.org/officeDocument/2006/relationships/notesSlide" Target="/ppt/notesSlides/notesSlide13.xml" Id="Rc661387a1ee345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23bb3cc783417d" /><Relationship Type="http://schemas.openxmlformats.org/officeDocument/2006/relationships/image" Target="/ppt/media/image5.png" Id="R6cedd9d8c2bb4481" /><Relationship Type="http://schemas.openxmlformats.org/officeDocument/2006/relationships/notesSlide" Target="/ppt/notesSlides/notesSlide14.xml" Id="R5476bed706c644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7206ebfc5d431b" /><Relationship Type="http://schemas.openxmlformats.org/officeDocument/2006/relationships/notesSlide" Target="/ppt/notesSlides/notesSlide15.xml" Id="Rcecde39101f148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012206695940cd" /><Relationship Type="http://schemas.openxmlformats.org/officeDocument/2006/relationships/notesSlide" Target="/ppt/notesSlides/notesSlide16.xml" Id="Rbe8bc726862b4c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dc68030b0054dec" /><Relationship Type="http://schemas.openxmlformats.org/officeDocument/2006/relationships/notesSlide" Target="/ppt/notesSlides/notesSlide17.xml" Id="Rb78738d1ba6e43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36358f8a36f4964" /><Relationship Type="http://schemas.openxmlformats.org/officeDocument/2006/relationships/image" Target="/ppt/media/image6.png" Id="R208248530c2e467b" /><Relationship Type="http://schemas.openxmlformats.org/officeDocument/2006/relationships/notesSlide" Target="/ppt/notesSlides/notesSlide18.xml" Id="R187bfb2d8889410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2f74cb8f4d64346" /><Relationship Type="http://schemas.openxmlformats.org/officeDocument/2006/relationships/image" Target="/ppt/media/image7.png" Id="R662efe35a53c4aa1" /><Relationship Type="http://schemas.openxmlformats.org/officeDocument/2006/relationships/notesSlide" Target="/ppt/notesSlides/notesSlide19.xml" Id="R7087fc7ccf9548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5fc9b3e398449ef" /><Relationship Type="http://schemas.openxmlformats.org/officeDocument/2006/relationships/notesSlide" Target="/ppt/notesSlides/notesSlide20.xml" Id="R521cbd60e7a34f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1fed936f657485d" /><Relationship Type="http://schemas.openxmlformats.org/officeDocument/2006/relationships/notesSlide" Target="/ppt/notesSlides/notesSlide21.xml" Id="R924959af9d2d4b9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292bb9c25da4506" /><Relationship Type="http://schemas.openxmlformats.org/officeDocument/2006/relationships/notesSlide" Target="/ppt/notesSlides/notesSlide22.xml" Id="R396928e5a55e450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f83210fc4be436f" /><Relationship Type="http://schemas.openxmlformats.org/officeDocument/2006/relationships/notesSlide" Target="/ppt/notesSlides/notesSlide23.xml" Id="Rec630919cfae406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2c4385c59724e04" /><Relationship Type="http://schemas.openxmlformats.org/officeDocument/2006/relationships/notesSlide" Target="/ppt/notesSlides/notesSlide24.xml" Id="R85134626375d4b8a" /></Relationships>
</file>

<file path=ppt/slides/slide1.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BA512B-6D17-4983-9991-7B42565F550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HotStuff</a:t>
            </a:r>
          </a:p>
        </p:txBody>
      </p:sp>
      <p:sp>
        <p:nvSpPr>
          <p:cNvPr id="2" name="">
            <a:extLst xmlns:a="http://schemas.openxmlformats.org/drawingml/2006/main">
              <a:ext uri="{FF2B5EF4-FFF2-40B4-BE49-F238E27FC236}">
                <a16:creationId xmlns:a16="http://schemas.microsoft.com/office/drawing/2014/main" id="{D6966853-0279-4B9A-8F52-D5C4F6775FAE}"/>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1776FB23-40C8-4738-858D-4072818EE8CB}"/>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A02489AF-6861-4C3F-8B12-31AE858FF7B0}"/>
              </a:ext>
            </a:extLst>
          </p:cNvPr>
          <p:cNvSpPr>
            <a:spLocks xmlns:a="http://schemas.openxmlformats.org/drawingml/2006/main" noGrp="1"/>
          </p:cNvSpPr>
          <p:nvPr/>
        </p:nvSpPr>
        <p:spPr>
          <a:xfrm xmlns:a="http://schemas.openxmlformats.org/drawingml/2006/main">
            <a:off x="609600" y="197167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425" b="1">
                <a:solidFill>
                  <a:srgbClr val="E8EEF6"/>
                </a:solidFill>
                <a:latin typeface="Microsoft YaHei"/>
                <a:ea typeface="Microsoft YaHei"/>
                <a:cs typeface="Microsoft YaHei"/>
              </a:defRPr>
            </a:pPr>
            <a:r>
              <a:rPr sz="4425" b="1">
                <a:solidFill>
                  <a:srgbClr val="E8EEF6"/>
                </a:solidFill>
                <a:latin typeface="Microsoft YaHei"/>
                <a:ea typeface="Microsoft YaHei"/>
                <a:cs typeface="Microsoft YaHei"/>
              </a:rPr>
              <a:t>Consensus Protocol and Live Demo</a:t>
            </a:r>
          </a:p>
        </p:txBody>
      </p:sp>
      <p:sp>
        <p:nvSpPr>
          <p:cNvPr id="5" name="">
            <a:extLst xmlns:a="http://schemas.openxmlformats.org/drawingml/2006/main">
              <a:ext uri="{FF2B5EF4-FFF2-40B4-BE49-F238E27FC236}">
                <a16:creationId xmlns:a16="http://schemas.microsoft.com/office/drawing/2014/main" id="{E44E79AE-9DE3-46DC-AD64-4A4F7159373B}"/>
              </a:ext>
            </a:extLst>
          </p:cNvPr>
          <p:cNvSpPr>
            <a:spLocks xmlns:a="http://schemas.openxmlformats.org/drawingml/2006/main" noGrp="1"/>
          </p:cNvSpPr>
          <p:nvPr/>
        </p:nvSpPr>
        <p:spPr>
          <a:xfrm xmlns:a="http://schemas.openxmlformats.org/drawingml/2006/main">
            <a:off x="647700" y="14382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87B7FF"/>
                </a:solidFill>
                <a:latin typeface="Microsoft YaHei"/>
                <a:ea typeface="Microsoft YaHei"/>
                <a:cs typeface="Microsoft YaHei"/>
              </a:defRPr>
            </a:pPr>
            <a:r>
              <a:rPr sz="1950" b="0">
                <a:solidFill>
                  <a:srgbClr val="87B7FF"/>
                </a:solidFill>
                <a:latin typeface="Microsoft YaHei"/>
                <a:ea typeface="Microsoft YaHei"/>
                <a:cs typeface="Microsoft YaHei"/>
              </a:rPr>
              <a:t>PPT 1</a:t>
            </a:r>
          </a:p>
        </p:txBody>
      </p:sp>
      <p:sp>
        <p:nvSpPr>
          <p:cNvPr id="6" name="">
            <a:extLst xmlns:a="http://schemas.openxmlformats.org/drawingml/2006/main">
              <a:ext uri="{FF2B5EF4-FFF2-40B4-BE49-F238E27FC236}">
                <a16:creationId xmlns:a16="http://schemas.microsoft.com/office/drawing/2014/main" id="{2D545CA3-B730-463E-A1EB-A78B226DB6A2}"/>
              </a:ext>
            </a:extLst>
          </p:cNvPr>
          <p:cNvSpPr>
            <a:spLocks xmlns:a="http://schemas.openxmlformats.org/drawingml/2006/main" noGrp="1"/>
          </p:cNvSpPr>
          <p:nvPr/>
        </p:nvSpPr>
        <p:spPr>
          <a:xfrm xmlns:a="http://schemas.openxmlformats.org/drawingml/2006/main">
            <a:off x="647700" y="33528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A4B4C8"/>
                </a:solidFill>
                <a:latin typeface="Microsoft YaHei"/>
                <a:ea typeface="Microsoft YaHei"/>
                <a:cs typeface="Microsoft YaHei"/>
              </a:defRPr>
            </a:pPr>
            <a:r>
              <a:rPr sz="2250" b="0">
                <a:solidFill>
                  <a:srgbClr val="A4B4C8"/>
                </a:solidFill>
                <a:latin typeface="Microsoft YaHei"/>
                <a:ea typeface="Microsoft YaHei"/>
                <a:cs typeface="Microsoft YaHei"/>
              </a:rPr>
              <a:t>How four replicas build evidence, preserve safety and make progress after failures</a:t>
            </a:r>
          </a:p>
        </p:txBody>
      </p:sp>
      <p:sp>
        <p:nvSpPr>
          <p:cNvPr id="7" name="">
            <a:extLst xmlns:a="http://schemas.openxmlformats.org/drawingml/2006/main">
              <a:ext uri="{FF2B5EF4-FFF2-40B4-BE49-F238E27FC236}">
                <a16:creationId xmlns:a16="http://schemas.microsoft.com/office/drawing/2014/main" id="{46889CFD-FFE1-409F-BF4D-02D3A9BAA8FA}"/>
              </a:ext>
            </a:extLst>
          </p:cNvPr>
          <p:cNvSpPr>
            <a:spLocks xmlns:a="http://schemas.openxmlformats.org/drawingml/2006/main" noGrp="1"/>
          </p:cNvSpPr>
          <p:nvPr/>
        </p:nvSpPr>
        <p:spPr>
          <a:xfrm xmlns:a="http://schemas.openxmlformats.org/drawingml/2006/main">
            <a:off x="647700" y="48863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77DDB8"/>
                </a:solidFill>
                <a:latin typeface="Microsoft YaHei"/>
                <a:ea typeface="Microsoft YaHei"/>
                <a:cs typeface="Microsoft YaHei"/>
              </a:defRPr>
            </a:pPr>
            <a:r>
              <a:rPr sz="2475" b="0">
                <a:solidFill>
                  <a:srgbClr val="77DDB8"/>
                </a:solidFill>
                <a:latin typeface="Microsoft YaHei"/>
                <a:ea typeface="Microsoft YaHei"/>
                <a:cs typeface="Microsoft YaHei"/>
              </a:rPr>
              <a:t>Proposal    Vote    QC    Lock    Commit</a:t>
            </a:r>
          </a:p>
        </p:txBody>
      </p:sp>
    </p:spTree>
    <p:extLst>
      <p:ext uri="{BB962C8B-B14F-4D97-AF65-F5344CB8AC3E}">
        <p14:creationId xmlns:p14="http://schemas.microsoft.com/office/powerpoint/2010/main" val="767979916"/>
      </p:ext>
    </p:extLst>
  </p:cSld>
</p:sld>
</file>

<file path=ppt/slides/slide2.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7E1A15-9427-4310-A28F-103F17ABA3B9}"/>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Protocol Goals and Assumptions</a:t>
            </a:r>
          </a:p>
        </p:txBody>
      </p:sp>
      <p:sp>
        <p:nvSpPr>
          <p:cNvPr id="2" name="">
            <a:extLst xmlns:a="http://schemas.openxmlformats.org/drawingml/2006/main">
              <a:ext uri="{FF2B5EF4-FFF2-40B4-BE49-F238E27FC236}">
                <a16:creationId xmlns:a16="http://schemas.microsoft.com/office/drawing/2014/main" id="{C0658ECE-195C-4878-B6BB-45583DED3642}"/>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C6AA4C42-A765-4DCE-A189-AF935BA809D3}"/>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02</a:t>
            </a:r>
          </a:p>
        </p:txBody>
      </p:sp>
      <p:sp>
        <p:nvSpPr>
          <p:cNvPr id="4" name="">
            <a:extLst xmlns:a="http://schemas.openxmlformats.org/drawingml/2006/main">
              <a:ext uri="{FF2B5EF4-FFF2-40B4-BE49-F238E27FC236}">
                <a16:creationId xmlns:a16="http://schemas.microsoft.com/office/drawing/2014/main" id="{5706C877-D5DF-4060-9BF8-402FAD3E258D}"/>
              </a:ext>
            </a:extLst>
          </p:cNvPr>
          <p:cNvSpPr>
            <a:spLocks xmlns:a="http://schemas.openxmlformats.org/drawingml/2006/main" noGrp="1"/>
          </p:cNvSpPr>
          <p:nvPr/>
        </p:nvSpPr>
        <p:spPr>
          <a:xfrm xmlns:a="http://schemas.openxmlformats.org/drawingml/2006/main">
            <a:off x="609600" y="1562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Safety: correct replicas commit compatible histories</a:t>
            </a:r>
          </a:p>
        </p:txBody>
      </p:sp>
      <p:sp>
        <p:nvSpPr>
          <p:cNvPr id="5" name="">
            <a:extLst xmlns:a="http://schemas.openxmlformats.org/drawingml/2006/main">
              <a:ext uri="{FF2B5EF4-FFF2-40B4-BE49-F238E27FC236}">
                <a16:creationId xmlns:a16="http://schemas.microsoft.com/office/drawing/2014/main" id="{05DBCEFB-71EC-450B-B243-3224201903E1}"/>
              </a:ext>
            </a:extLst>
          </p:cNvPr>
          <p:cNvSpPr>
            <a:spLocks xmlns:a="http://schemas.openxmlformats.org/drawingml/2006/main" noGrp="1"/>
          </p:cNvSpPr>
          <p:nvPr/>
        </p:nvSpPr>
        <p:spPr>
          <a:xfrm xmlns:a="http://schemas.openxmlformats.org/drawingml/2006/main">
            <a:off x="609600" y="19907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Message delays and view changes must not cause conflicting commits.</a:t>
            </a:r>
          </a:p>
        </p:txBody>
      </p:sp>
      <p:sp>
        <p:nvSpPr>
          <p:cNvPr id="6" name="">
            <a:extLst xmlns:a="http://schemas.openxmlformats.org/drawingml/2006/main">
              <a:ext uri="{FF2B5EF4-FFF2-40B4-BE49-F238E27FC236}">
                <a16:creationId xmlns:a16="http://schemas.microsoft.com/office/drawing/2014/main" id="{B77B4DAE-1373-41B9-BA17-3DE0DE477507}"/>
              </a:ext>
            </a:extLst>
          </p:cNvPr>
          <p:cNvSpPr>
            <a:spLocks xmlns:a="http://schemas.openxmlformats.org/drawingml/2006/main" noGrp="1"/>
          </p:cNvSpPr>
          <p:nvPr/>
        </p:nvSpPr>
        <p:spPr>
          <a:xfrm xmlns:a="http://schemas.openxmlformats.org/drawingml/2006/main">
            <a:off x="609600" y="2943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Liveness: decisions continue when conditions hold</a:t>
            </a:r>
          </a:p>
        </p:txBody>
      </p:sp>
      <p:sp>
        <p:nvSpPr>
          <p:cNvPr id="7" name="">
            <a:extLst xmlns:a="http://schemas.openxmlformats.org/drawingml/2006/main">
              <a:ext uri="{FF2B5EF4-FFF2-40B4-BE49-F238E27FC236}">
                <a16:creationId xmlns:a16="http://schemas.microsoft.com/office/drawing/2014/main" id="{009D1598-0CF0-43EE-AD31-D3780B03B885}"/>
              </a:ext>
            </a:extLst>
          </p:cNvPr>
          <p:cNvSpPr>
            <a:spLocks xmlns:a="http://schemas.openxmlformats.org/drawingml/2006/main" noGrp="1"/>
          </p:cNvSpPr>
          <p:nvPr/>
        </p:nvSpPr>
        <p:spPr>
          <a:xfrm xmlns:a="http://schemas.openxmlformats.org/drawingml/2006/main">
            <a:off x="609600" y="33718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After the network stabilizes, a correct leader can collect enough responses.</a:t>
            </a:r>
          </a:p>
        </p:txBody>
      </p:sp>
      <p:sp>
        <p:nvSpPr>
          <p:cNvPr id="8" name="">
            <a:extLst xmlns:a="http://schemas.openxmlformats.org/drawingml/2006/main">
              <a:ext uri="{FF2B5EF4-FFF2-40B4-BE49-F238E27FC236}">
                <a16:creationId xmlns:a16="http://schemas.microsoft.com/office/drawing/2014/main" id="{39B4792F-45B7-4B59-90CF-1CDAF33E1490}"/>
              </a:ext>
            </a:extLst>
          </p:cNvPr>
          <p:cNvSpPr>
            <a:spLocks xmlns:a="http://schemas.openxmlformats.org/drawingml/2006/main" noGrp="1"/>
          </p:cNvSpPr>
          <p:nvPr/>
        </p:nvSpPr>
        <p:spPr>
          <a:xfrm xmlns:a="http://schemas.openxmlformats.org/drawingml/2006/main">
            <a:off x="609600" y="4324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Classroom setup: n = 4, f = 1</a:t>
            </a:r>
          </a:p>
        </p:txBody>
      </p:sp>
      <p:sp>
        <p:nvSpPr>
          <p:cNvPr id="9" name="">
            <a:extLst xmlns:a="http://schemas.openxmlformats.org/drawingml/2006/main">
              <a:ext uri="{FF2B5EF4-FFF2-40B4-BE49-F238E27FC236}">
                <a16:creationId xmlns:a16="http://schemas.microsoft.com/office/drawing/2014/main" id="{3BB8D7F6-CA01-4897-A4F9-F6F9702B2CAE}"/>
              </a:ext>
            </a:extLst>
          </p:cNvPr>
          <p:cNvSpPr>
            <a:spLocks xmlns:a="http://schemas.openxmlformats.org/drawingml/2006/main" noGrp="1"/>
          </p:cNvSpPr>
          <p:nvPr/>
        </p:nvSpPr>
        <p:spPr>
          <a:xfrm xmlns:a="http://schemas.openxmlformats.org/drawingml/2006/main">
            <a:off x="609600" y="4752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Membership is fixed. The protocol requires authentication. The demo uses node IDs.</a:t>
            </a:r>
          </a:p>
        </p:txBody>
      </p:sp>
    </p:spTree>
    <p:extLst>
      <p:ext uri="{BB962C8B-B14F-4D97-AF65-F5344CB8AC3E}">
        <p14:creationId xmlns:p14="http://schemas.microsoft.com/office/powerpoint/2010/main" val="1905318258"/>
      </p:ext>
    </p:extLst>
  </p:cSld>
</p:sld>
</file>

<file path=ppt/slides/slide3.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4F9761-34A6-4C7D-BC1C-A052FFAD0E17}"/>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Why the Quorum Is Three</a:t>
            </a:r>
          </a:p>
        </p:txBody>
      </p:sp>
      <p:sp>
        <p:nvSpPr>
          <p:cNvPr id="2" name="">
            <a:extLst xmlns:a="http://schemas.openxmlformats.org/drawingml/2006/main">
              <a:ext uri="{FF2B5EF4-FFF2-40B4-BE49-F238E27FC236}">
                <a16:creationId xmlns:a16="http://schemas.microsoft.com/office/drawing/2014/main" id="{C2B54256-FB91-4A30-8F2B-2D74CD264644}"/>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47439593-BB36-444D-8F2F-9D0ECED08D6A}"/>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03</a:t>
            </a:r>
          </a:p>
        </p:txBody>
      </p:sp>
      <p:sp>
        <p:nvSpPr>
          <p:cNvPr id="4" name="">
            <a:extLst xmlns:a="http://schemas.openxmlformats.org/drawingml/2006/main">
              <a:ext uri="{FF2B5EF4-FFF2-40B4-BE49-F238E27FC236}">
                <a16:creationId xmlns:a16="http://schemas.microsoft.com/office/drawing/2014/main" id="{44932EFB-9515-4B9E-AF8B-1CEFC6BFC092}"/>
              </a:ext>
            </a:extLst>
          </p:cNvPr>
          <p:cNvSpPr>
            <a:spLocks xmlns:a="http://schemas.openxmlformats.org/drawingml/2006/main" noGrp="1"/>
          </p:cNvSpPr>
          <p:nvPr/>
        </p:nvSpPr>
        <p:spPr>
          <a:xfrm xmlns:a="http://schemas.openxmlformats.org/drawingml/2006/main">
            <a:off x="609600" y="14382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050" b="1">
                <a:solidFill>
                  <a:srgbClr val="77DDB8"/>
                </a:solidFill>
                <a:latin typeface="Microsoft YaHei"/>
                <a:ea typeface="Microsoft YaHei"/>
                <a:cs typeface="Microsoft YaHei"/>
              </a:defRPr>
            </a:pPr>
            <a:r>
              <a:rPr sz="4050" b="1">
                <a:solidFill>
                  <a:srgbClr val="77DDB8"/>
                </a:solidFill>
                <a:latin typeface="Microsoft YaHei"/>
                <a:ea typeface="Microsoft YaHei"/>
                <a:cs typeface="Microsoft YaHei"/>
              </a:rPr>
              <a:t>q = 2f + 1 = 3</a:t>
            </a:r>
          </a:p>
        </p:txBody>
      </p:sp>
      <p:graphicFrame>
        <p:nvGraphicFramePr>
          <p:cNvPr id="12" name=""/>
          <p:cNvGraphicFramePr/>
          <p:nvPr/>
        </p:nvGraphicFramePr>
        <p:xfrm>
          <a:off xmlns:a="http://schemas.openxmlformats.org/drawingml/2006/main" x="609600" y="2371725"/>
          <a:ext xmlns:a="http://schemas.openxmlformats.org/drawingml/2006/main" cx="10972800" cy="2524125"/>
        </p:xfrm>
        <a:graphic xmlns:a="http://schemas.openxmlformats.org/drawingml/2006/main">
          <a:graphicData uri="http://schemas.openxmlformats.org/drawingml/2006/table">
            <a:tbl>
              <a:tblPr/>
              <a:tblGrid>
                <a:gridCol w="2857500"/>
                <a:gridCol w="8115300"/>
              </a:tblGrid>
              <a:tr h="631031">
                <a:tc>
                  <a:txBody>
                    <a:bodyPr>
                      <a:noAutofit/>
                    </a:bodyPr>
                    <a:lstStyle/>
                    <a:p>
                      <a:r>
                        <a:rPr sz="2100" b="1">
                          <a:solidFill>
                            <a:srgbClr val="87B7FF"/>
                          </a:solidFill>
                          <a:latin typeface="Microsoft YaHei"/>
                          <a:ea typeface="Microsoft YaHei"/>
                          <a:cs typeface="Microsoft YaHei"/>
                        </a:rPr>
                        <a:t>Set</a:t>
                      </a:r>
                    </a:p>
                  </a:txBody>
                  <a:tcPr marL="91440" marR="91440" marT="45720" marB="45720">
                    <a:solidFill>
                      <a:srgbClr val="233750"/>
                    </a:solidFill>
                  </a:tcPr>
                </a:tc>
                <a:tc>
                  <a:txBody>
                    <a:bodyPr>
                      <a:noAutofit/>
                    </a:bodyPr>
                    <a:lstStyle/>
                    <a:p>
                      <a:r>
                        <a:rPr sz="2100" b="1">
                          <a:solidFill>
                            <a:srgbClr val="87B7FF"/>
                          </a:solidFill>
                          <a:latin typeface="Microsoft YaHei"/>
                          <a:ea typeface="Microsoft YaHei"/>
                          <a:cs typeface="Microsoft YaHei"/>
                        </a:rPr>
                        <a:t>Voters</a:t>
                      </a:r>
                    </a:p>
                  </a:txBody>
                  <a:tcPr marL="91440" marR="91440" marT="45720" marB="45720">
                    <a:solidFill>
                      <a:srgbClr val="233750"/>
                    </a:solidFill>
                  </a:tcPr>
                </a:tc>
              </a:tr>
              <a:tr h="631031">
                <a:tc>
                  <a:txBody>
                    <a:bodyPr>
                      <a:noAutofit/>
                    </a:bodyPr>
                    <a:lstStyle/>
                    <a:p>
                      <a:r>
                        <a:rPr sz="2100" b="0">
                          <a:solidFill>
                            <a:srgbClr val="E8EEF6"/>
                          </a:solidFill>
                          <a:latin typeface="Microsoft YaHei"/>
                          <a:ea typeface="Microsoft YaHei"/>
                          <a:cs typeface="Microsoft YaHei"/>
                        </a:rPr>
                        <a:t>Quorum A</a:t>
                      </a:r>
                    </a:p>
                  </a:txBody>
                  <a:tcPr marL="91440" marR="91440" marT="45720" marB="45720">
                    <a:solidFill>
                      <a:srgbClr val="0D131D"/>
                    </a:solidFill>
                  </a:tcPr>
                </a:tc>
                <a:tc>
                  <a:txBody>
                    <a:bodyPr>
                      <a:noAutofit/>
                    </a:bodyPr>
                    <a:lstStyle/>
                    <a:p>
                      <a:r>
                        <a:rPr sz="2100" b="0">
                          <a:solidFill>
                            <a:srgbClr val="E8EEF6"/>
                          </a:solidFill>
                          <a:latin typeface="Microsoft YaHei"/>
                          <a:ea typeface="Microsoft YaHei"/>
                          <a:cs typeface="Microsoft YaHei"/>
                        </a:rPr>
                        <a:t>N1, N2, N3</a:t>
                      </a:r>
                    </a:p>
                  </a:txBody>
                  <a:tcPr marL="91440" marR="91440" marT="45720" marB="45720">
                    <a:solidFill>
                      <a:srgbClr val="0D131D"/>
                    </a:solidFill>
                  </a:tcPr>
                </a:tc>
              </a:tr>
              <a:tr h="631031">
                <a:tc>
                  <a:txBody>
                    <a:bodyPr>
                      <a:noAutofit/>
                    </a:bodyPr>
                    <a:lstStyle/>
                    <a:p>
                      <a:r>
                        <a:rPr sz="2100" b="0">
                          <a:solidFill>
                            <a:srgbClr val="E8EEF6"/>
                          </a:solidFill>
                          <a:latin typeface="Microsoft YaHei"/>
                          <a:ea typeface="Microsoft YaHei"/>
                          <a:cs typeface="Microsoft YaHei"/>
                        </a:rPr>
                        <a:t>Quorum B</a:t>
                      </a:r>
                    </a:p>
                  </a:txBody>
                  <a:tcPr marL="91440" marR="91440" marT="45720" marB="45720">
                    <a:solidFill>
                      <a:srgbClr val="172232"/>
                    </a:solidFill>
                  </a:tcPr>
                </a:tc>
                <a:tc>
                  <a:txBody>
                    <a:bodyPr>
                      <a:noAutofit/>
                    </a:bodyPr>
                    <a:lstStyle/>
                    <a:p>
                      <a:r>
                        <a:rPr sz="2100" b="0">
                          <a:solidFill>
                            <a:srgbClr val="E8EEF6"/>
                          </a:solidFill>
                          <a:latin typeface="Microsoft YaHei"/>
                          <a:ea typeface="Microsoft YaHei"/>
                          <a:cs typeface="Microsoft YaHei"/>
                        </a:rPr>
                        <a:t>N2, N3, N4</a:t>
                      </a:r>
                    </a:p>
                  </a:txBody>
                  <a:tcPr marL="91440" marR="91440" marT="45720" marB="45720">
                    <a:solidFill>
                      <a:srgbClr val="172232"/>
                    </a:solidFill>
                  </a:tcPr>
                </a:tc>
              </a:tr>
              <a:tr h="631031">
                <a:tc>
                  <a:txBody>
                    <a:bodyPr>
                      <a:noAutofit/>
                    </a:bodyPr>
                    <a:lstStyle/>
                    <a:p>
                      <a:r>
                        <a:rPr sz="2100" b="0">
                          <a:solidFill>
                            <a:srgbClr val="E8EEF6"/>
                          </a:solidFill>
                          <a:latin typeface="Microsoft YaHei"/>
                          <a:ea typeface="Microsoft YaHei"/>
                          <a:cs typeface="Microsoft YaHei"/>
                        </a:rPr>
                        <a:t>Intersection</a:t>
                      </a:r>
                    </a:p>
                  </a:txBody>
                  <a:tcPr marL="91440" marR="91440" marT="45720" marB="45720">
                    <a:solidFill>
                      <a:srgbClr val="0D131D"/>
                    </a:solidFill>
                  </a:tcPr>
                </a:tc>
                <a:tc>
                  <a:txBody>
                    <a:bodyPr>
                      <a:noAutofit/>
                    </a:bodyPr>
                    <a:lstStyle/>
                    <a:p>
                      <a:r>
                        <a:rPr sz="2100" b="0">
                          <a:solidFill>
                            <a:srgbClr val="E8EEF6"/>
                          </a:solidFill>
                          <a:latin typeface="Microsoft YaHei"/>
                          <a:ea typeface="Microsoft YaHei"/>
                          <a:cs typeface="Microsoft YaHei"/>
                        </a:rPr>
                        <a:t>N2, N3: at least one correct replica</a:t>
                      </a:r>
                    </a:p>
                  </a:txBody>
                  <a:tcPr marL="91440" marR="91440" marT="45720" marB="45720">
                    <a:solidFill>
                      <a:srgbClr val="0D131D"/>
                    </a:solidFill>
                  </a:tcPr>
                </a:tc>
              </a:tr>
            </a:tbl>
          </a:graphicData>
        </a:graphic>
      </p:graphicFrame>
      <p:sp>
        <p:nvSpPr>
          <p:cNvPr id="6" name="">
            <a:extLst xmlns:a="http://schemas.openxmlformats.org/drawingml/2006/main">
              <a:ext uri="{FF2B5EF4-FFF2-40B4-BE49-F238E27FC236}">
                <a16:creationId xmlns:a16="http://schemas.microsoft.com/office/drawing/2014/main" id="{2D9942B7-7EFB-49B8-84FE-4342132A82E4}"/>
              </a:ext>
            </a:extLst>
          </p:cNvPr>
          <p:cNvSpPr>
            <a:spLocks xmlns:a="http://schemas.openxmlformats.org/drawingml/2006/main" noGrp="1"/>
          </p:cNvSpPr>
          <p:nvPr/>
        </p:nvSpPr>
        <p:spPr>
          <a:xfrm xmlns:a="http://schemas.openxmlformats.org/drawingml/2006/main">
            <a:off x="609600" y="52101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87B7FF"/>
                </a:solidFill>
                <a:latin typeface="Microsoft YaHei"/>
                <a:ea typeface="Microsoft YaHei"/>
                <a:cs typeface="Microsoft YaHei"/>
              </a:defRPr>
            </a:pPr>
            <a:r>
              <a:rPr sz="2400" b="0">
                <a:solidFill>
                  <a:srgbClr val="87B7FF"/>
                </a:solidFill>
                <a:latin typeface="Microsoft YaHei"/>
                <a:ea typeface="Microsoft YaHei"/>
                <a:cs typeface="Microsoft YaHei"/>
              </a:rPr>
              <a:t>|QA ∩ QB| ≥ 3 + 3 − 4 = 2 &gt; f</a:t>
            </a:r>
          </a:p>
        </p:txBody>
      </p:sp>
      <p:sp>
        <p:nvSpPr>
          <p:cNvPr id="7" name="">
            <a:extLst xmlns:a="http://schemas.openxmlformats.org/drawingml/2006/main">
              <a:ext uri="{FF2B5EF4-FFF2-40B4-BE49-F238E27FC236}">
                <a16:creationId xmlns:a16="http://schemas.microsoft.com/office/drawing/2014/main" id="{17356267-D8A3-4B27-A8FB-258BF4129108}"/>
              </a:ext>
            </a:extLst>
          </p:cNvPr>
          <p:cNvSpPr>
            <a:spLocks xmlns:a="http://schemas.openxmlformats.org/drawingml/2006/main" noGrp="1"/>
          </p:cNvSpPr>
          <p:nvPr/>
        </p:nvSpPr>
        <p:spPr>
          <a:xfrm xmlns:a="http://schemas.openxmlformats.org/drawingml/2006/main">
            <a:off x="609600" y="58197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Quorum intersection and one vote per view rule out conflicting QCs in the same view.</a:t>
            </a:r>
          </a:p>
        </p:txBody>
      </p:sp>
    </p:spTree>
    <p:extLst>
      <p:ext uri="{BB962C8B-B14F-4D97-AF65-F5344CB8AC3E}">
        <p14:creationId xmlns:p14="http://schemas.microsoft.com/office/powerpoint/2010/main" val="859795678"/>
      </p:ext>
    </p:extLst>
  </p:cSld>
</p:sld>
</file>

<file path=ppt/slides/slide4.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BCD6997-D3C5-4405-82A1-BAE6661E21F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HotStuff's Core Design</a:t>
            </a:r>
          </a:p>
        </p:txBody>
      </p:sp>
      <p:sp>
        <p:nvSpPr>
          <p:cNvPr id="2" name="">
            <a:extLst xmlns:a="http://schemas.openxmlformats.org/drawingml/2006/main">
              <a:ext uri="{FF2B5EF4-FFF2-40B4-BE49-F238E27FC236}">
                <a16:creationId xmlns:a16="http://schemas.microsoft.com/office/drawing/2014/main" id="{C8876C08-4E15-4031-BF75-0B7FCC3CA9B6}"/>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1EDB544B-2F8B-46CA-ABD8-9A7C44A8E82D}"/>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04</a:t>
            </a:r>
          </a:p>
        </p:txBody>
      </p:sp>
      <p:sp>
        <p:nvSpPr>
          <p:cNvPr id="4" name="">
            <a:extLst xmlns:a="http://schemas.openxmlformats.org/drawingml/2006/main">
              <a:ext uri="{FF2B5EF4-FFF2-40B4-BE49-F238E27FC236}">
                <a16:creationId xmlns:a16="http://schemas.microsoft.com/office/drawing/2014/main" id="{1AFA16E5-96E5-412E-BFB3-F87C7A1B1E6C}"/>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87B7FF"/>
                </a:solidFill>
                <a:latin typeface="Microsoft YaHei"/>
                <a:ea typeface="Microsoft YaHei"/>
                <a:cs typeface="Microsoft YaHei"/>
              </a:defRPr>
            </a:pPr>
            <a:r>
              <a:rPr sz="2100" b="1">
                <a:solidFill>
                  <a:srgbClr val="87B7FF"/>
                </a:solidFill>
                <a:latin typeface="Microsoft YaHei"/>
                <a:ea typeface="Microsoft YaHei"/>
                <a:cs typeface="Microsoft YaHei"/>
              </a:rPr>
              <a:t>QC: votes become transferable evidence</a:t>
            </a:r>
          </a:p>
        </p:txBody>
      </p:sp>
      <p:sp>
        <p:nvSpPr>
          <p:cNvPr id="5" name="">
            <a:extLst xmlns:a="http://schemas.openxmlformats.org/drawingml/2006/main">
              <a:ext uri="{FF2B5EF4-FFF2-40B4-BE49-F238E27FC236}">
                <a16:creationId xmlns:a16="http://schemas.microsoft.com/office/drawing/2014/main" id="{40334ED3-96A7-4AF1-8D44-588B1699EA69}"/>
              </a:ext>
            </a:extLst>
          </p:cNvPr>
          <p:cNvSpPr>
            <a:spLocks xmlns:a="http://schemas.openxmlformats.org/drawingml/2006/main" noGrp="1"/>
          </p:cNvSpPr>
          <p:nvPr/>
        </p:nvSpPr>
        <p:spPr>
          <a:xfrm xmlns:a="http://schemas.openxmlformats.org/drawingml/2006/main">
            <a:off x="609600" y="1905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A successor proposal carries the certificate for its parent.</a:t>
            </a:r>
          </a:p>
        </p:txBody>
      </p:sp>
      <p:sp>
        <p:nvSpPr>
          <p:cNvPr id="6" name="">
            <a:extLst xmlns:a="http://schemas.openxmlformats.org/drawingml/2006/main">
              <a:ext uri="{FF2B5EF4-FFF2-40B4-BE49-F238E27FC236}">
                <a16:creationId xmlns:a16="http://schemas.microsoft.com/office/drawing/2014/main" id="{A4A91C02-9611-46BD-93DC-9A3232DC143A}"/>
              </a:ext>
            </a:extLst>
          </p:cNvPr>
          <p:cNvSpPr>
            <a:spLocks xmlns:a="http://schemas.openxmlformats.org/drawingml/2006/main" noGrp="1"/>
          </p:cNvSpPr>
          <p:nvPr/>
        </p:nvSpPr>
        <p:spPr>
          <a:xfrm xmlns:a="http://schemas.openxmlformats.org/drawingml/2006/main">
            <a:off x="609600" y="2562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87B7FF"/>
                </a:solidFill>
                <a:latin typeface="Microsoft YaHei"/>
                <a:ea typeface="Microsoft YaHei"/>
                <a:cs typeface="Microsoft YaHei"/>
              </a:defRPr>
            </a:pPr>
            <a:r>
              <a:rPr sz="2100" b="1">
                <a:solidFill>
                  <a:srgbClr val="87B7FF"/>
                </a:solidFill>
                <a:latin typeface="Microsoft YaHei"/>
                <a:ea typeface="Microsoft YaHei"/>
                <a:cs typeface="Microsoft YaHei"/>
              </a:rPr>
              <a:t>HighQC and LockedQC: progress and voting constraints</a:t>
            </a:r>
          </a:p>
        </p:txBody>
      </p:sp>
      <p:sp>
        <p:nvSpPr>
          <p:cNvPr id="7" name="">
            <a:extLst xmlns:a="http://schemas.openxmlformats.org/drawingml/2006/main">
              <a:ext uri="{FF2B5EF4-FFF2-40B4-BE49-F238E27FC236}">
                <a16:creationId xmlns:a16="http://schemas.microsoft.com/office/drawing/2014/main" id="{3B465E3F-5D36-4287-B89E-CA98A3E67D20}"/>
              </a:ext>
            </a:extLst>
          </p:cNvPr>
          <p:cNvSpPr>
            <a:spLocks xmlns:a="http://schemas.openxmlformats.org/drawingml/2006/main" noGrp="1"/>
          </p:cNvSpPr>
          <p:nvPr/>
        </p:nvSpPr>
        <p:spPr>
          <a:xfrm xmlns:a="http://schemas.openxmlformats.org/drawingml/2006/main">
            <a:off x="609600" y="29908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The leader chooses an extension point. Replicas check whether they can vote.</a:t>
            </a:r>
          </a:p>
        </p:txBody>
      </p:sp>
      <p:sp>
        <p:nvSpPr>
          <p:cNvPr id="8" name="">
            <a:extLst xmlns:a="http://schemas.openxmlformats.org/drawingml/2006/main">
              <a:ext uri="{FF2B5EF4-FFF2-40B4-BE49-F238E27FC236}">
                <a16:creationId xmlns:a16="http://schemas.microsoft.com/office/drawing/2014/main" id="{3CC67072-6927-47A8-ACD2-8D3B427A7A13}"/>
              </a:ext>
            </a:extLst>
          </p:cNvPr>
          <p:cNvSpPr>
            <a:spLocks xmlns:a="http://schemas.openxmlformats.org/drawingml/2006/main" noGrp="1"/>
          </p:cNvSpPr>
          <p:nvPr/>
        </p:nvSpPr>
        <p:spPr>
          <a:xfrm xmlns:a="http://schemas.openxmlformats.org/drawingml/2006/main">
            <a:off x="609600" y="36480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87B7FF"/>
                </a:solidFill>
                <a:latin typeface="Microsoft YaHei"/>
                <a:ea typeface="Microsoft YaHei"/>
                <a:cs typeface="Microsoft YaHei"/>
              </a:defRPr>
            </a:pPr>
            <a:r>
              <a:rPr sz="2100" b="1">
                <a:solidFill>
                  <a:srgbClr val="87B7FF"/>
                </a:solidFill>
                <a:latin typeface="Microsoft YaHei"/>
                <a:ea typeface="Microsoft YaHei"/>
                <a:cs typeface="Microsoft YaHei"/>
              </a:rPr>
              <a:t>Chaining: successor certificates advance ancestor commits</a:t>
            </a:r>
          </a:p>
        </p:txBody>
      </p:sp>
      <p:sp>
        <p:nvSpPr>
          <p:cNvPr id="9" name="">
            <a:extLst xmlns:a="http://schemas.openxmlformats.org/drawingml/2006/main">
              <a:ext uri="{FF2B5EF4-FFF2-40B4-BE49-F238E27FC236}">
                <a16:creationId xmlns:a16="http://schemas.microsoft.com/office/drawing/2014/main" id="{A9DFD614-466C-4E5C-A08D-C3DF43E2D33F}"/>
              </a:ext>
            </a:extLst>
          </p:cNvPr>
          <p:cNvSpPr>
            <a:spLocks xmlns:a="http://schemas.openxmlformats.org/drawingml/2006/main" noGrp="1"/>
          </p:cNvSpPr>
          <p:nvPr/>
        </p:nvSpPr>
        <p:spPr>
          <a:xfrm xmlns:a="http://schemas.openxmlformats.org/drawingml/2006/main">
            <a:off x="609600" y="4076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Each new proposal also advances earlier proposals in the pipeline.</a:t>
            </a:r>
          </a:p>
        </p:txBody>
      </p:sp>
      <p:sp>
        <p:nvSpPr>
          <p:cNvPr id="10" name="">
            <a:extLst xmlns:a="http://schemas.openxmlformats.org/drawingml/2006/main">
              <a:ext uri="{FF2B5EF4-FFF2-40B4-BE49-F238E27FC236}">
                <a16:creationId xmlns:a16="http://schemas.microsoft.com/office/drawing/2014/main" id="{49E9942D-7BB0-4B16-B43E-0BDE0B8E169B}"/>
              </a:ext>
            </a:extLst>
          </p:cNvPr>
          <p:cNvSpPr>
            <a:spLocks xmlns:a="http://schemas.openxmlformats.org/drawingml/2006/main" noGrp="1"/>
          </p:cNvSpPr>
          <p:nvPr/>
        </p:nvSpPr>
        <p:spPr>
          <a:xfrm xmlns:a="http://schemas.openxmlformats.org/drawingml/2006/main">
            <a:off x="609600" y="4733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87B7FF"/>
                </a:solidFill>
                <a:latin typeface="Microsoft YaHei"/>
                <a:ea typeface="Microsoft YaHei"/>
                <a:cs typeface="Microsoft YaHei"/>
              </a:defRPr>
            </a:pPr>
            <a:r>
              <a:rPr sz="2100" b="1">
                <a:solidFill>
                  <a:srgbClr val="87B7FF"/>
                </a:solidFill>
                <a:latin typeface="Microsoft YaHei"/>
                <a:ea typeface="Microsoft YaHei"/>
                <a:cs typeface="Microsoft YaHei"/>
              </a:rPr>
              <a:t>Pacemaker: coordination of views and leaders</a:t>
            </a:r>
          </a:p>
        </p:txBody>
      </p:sp>
      <p:sp>
        <p:nvSpPr>
          <p:cNvPr id="11" name="">
            <a:extLst xmlns:a="http://schemas.openxmlformats.org/drawingml/2006/main">
              <a:ext uri="{FF2B5EF4-FFF2-40B4-BE49-F238E27FC236}">
                <a16:creationId xmlns:a16="http://schemas.microsoft.com/office/drawing/2014/main" id="{C4466561-28F8-4008-94D5-01F67570420A}"/>
              </a:ext>
            </a:extLst>
          </p:cNvPr>
          <p:cNvSpPr>
            <a:spLocks xmlns:a="http://schemas.openxmlformats.org/drawingml/2006/main" noGrp="1"/>
          </p:cNvSpPr>
          <p:nvPr/>
        </p:nvSpPr>
        <p:spPr>
          <a:xfrm xmlns:a="http://schemas.openxmlformats.org/drawingml/2006/main">
            <a:off x="609600" y="5162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The protocol separates safety rules from mechanisms that drive progress.</a:t>
            </a:r>
          </a:p>
        </p:txBody>
      </p:sp>
    </p:spTree>
    <p:extLst>
      <p:ext uri="{BB962C8B-B14F-4D97-AF65-F5344CB8AC3E}">
        <p14:creationId xmlns:p14="http://schemas.microsoft.com/office/powerpoint/2010/main" val="661166539"/>
      </p:ext>
    </p:extLst>
  </p:cSld>
</p:sld>
</file>

<file path=ppt/slides/slide5.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EA1E07-93F4-47F6-9C4D-2F55DEB0AB9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Node State and Its Meaning</a:t>
            </a:r>
          </a:p>
        </p:txBody>
      </p:sp>
      <p:sp>
        <p:nvSpPr>
          <p:cNvPr id="2" name="">
            <a:extLst xmlns:a="http://schemas.openxmlformats.org/drawingml/2006/main">
              <a:ext uri="{FF2B5EF4-FFF2-40B4-BE49-F238E27FC236}">
                <a16:creationId xmlns:a16="http://schemas.microsoft.com/office/drawing/2014/main" id="{0BB084A6-5E59-4CA8-BE4C-23A28876E617}"/>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CC862E76-474F-43B3-B546-5E3F33D06DE0}"/>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05</a:t>
            </a:r>
          </a:p>
        </p:txBody>
      </p:sp>
      <p:graphicFrame>
        <p:nvGraphicFramePr>
          <p:cNvPr id="9" name=""/>
          <p:cNvGraphicFramePr/>
          <p:nvPr/>
        </p:nvGraphicFramePr>
        <p:xfrm>
          <a:off xmlns:a="http://schemas.openxmlformats.org/drawingml/2006/main" x="609600" y="1571625"/>
          <a:ext xmlns:a="http://schemas.openxmlformats.org/drawingml/2006/main" cx="10972800" cy="3943350"/>
        </p:xfrm>
        <a:graphic xmlns:a="http://schemas.openxmlformats.org/drawingml/2006/main">
          <a:graphicData uri="http://schemas.openxmlformats.org/drawingml/2006/table">
            <a:tbl>
              <a:tblPr/>
              <a:tblGrid>
                <a:gridCol w="3333750"/>
                <a:gridCol w="7639050"/>
              </a:tblGrid>
              <a:tr h="657225">
                <a:tc>
                  <a:txBody>
                    <a:bodyPr>
                      <a:noAutofit/>
                    </a:bodyPr>
                    <a:lstStyle/>
                    <a:p>
                      <a:r>
                        <a:rPr sz="2025" b="1">
                          <a:solidFill>
                            <a:srgbClr val="87B7FF"/>
                          </a:solidFill>
                          <a:latin typeface="Microsoft YaHei"/>
                          <a:ea typeface="Microsoft YaHei"/>
                          <a:cs typeface="Microsoft YaHei"/>
                        </a:rPr>
                        <a:t>Dashboard field</a:t>
                      </a:r>
                    </a:p>
                  </a:txBody>
                  <a:tcPr marL="91440" marR="91440" marT="45720" marB="45720">
                    <a:solidFill>
                      <a:srgbClr val="233750"/>
                    </a:solidFill>
                  </a:tcPr>
                </a:tc>
                <a:tc>
                  <a:txBody>
                    <a:bodyPr>
                      <a:noAutofit/>
                    </a:bodyPr>
                    <a:lstStyle/>
                    <a:p>
                      <a:r>
                        <a:rPr sz="2025" b="1">
                          <a:solidFill>
                            <a:srgbClr val="87B7FF"/>
                          </a:solidFill>
                          <a:latin typeface="Microsoft YaHei"/>
                          <a:ea typeface="Microsoft YaHei"/>
                          <a:cs typeface="Microsoft YaHei"/>
                        </a:rPr>
                        <a:t>Meaning</a:t>
                      </a:r>
                    </a:p>
                  </a:txBody>
                  <a:tcPr marL="91440" marR="91440" marT="45720" marB="45720">
                    <a:solidFill>
                      <a:srgbClr val="233750"/>
                    </a:solidFill>
                  </a:tcPr>
                </a:tc>
              </a:tr>
              <a:tr h="657225">
                <a:tc>
                  <a:txBody>
                    <a:bodyPr>
                      <a:noAutofit/>
                    </a:bodyPr>
                    <a:lstStyle/>
                    <a:p>
                      <a:r>
                        <a:rPr sz="2025" b="0">
                          <a:solidFill>
                            <a:srgbClr val="E8EEF6"/>
                          </a:solidFill>
                          <a:latin typeface="Microsoft YaHei"/>
                          <a:ea typeface="Microsoft YaHei"/>
                          <a:cs typeface="Microsoft YaHei"/>
                        </a:rPr>
                        <a:t>View / Leader</a:t>
                      </a:r>
                    </a:p>
                  </a:txBody>
                  <a:tcPr marL="91440" marR="91440" marT="45720" marB="45720">
                    <a:solidFill>
                      <a:srgbClr val="0D131D"/>
                    </a:solidFill>
                  </a:tcPr>
                </a:tc>
                <a:tc>
                  <a:txBody>
                    <a:bodyPr>
                      <a:noAutofit/>
                    </a:bodyPr>
                    <a:lstStyle/>
                    <a:p>
                      <a:r>
                        <a:rPr sz="2025" b="0">
                          <a:solidFill>
                            <a:srgbClr val="E8EEF6"/>
                          </a:solidFill>
                          <a:latin typeface="Microsoft YaHei"/>
                          <a:ea typeface="Microsoft YaHei"/>
                          <a:cs typeface="Microsoft YaHei"/>
                        </a:rPr>
                        <a:t>Current logical round and its designated proposer</a:t>
                      </a:r>
                    </a:p>
                  </a:txBody>
                  <a:tcPr marL="91440" marR="91440" marT="45720" marB="45720">
                    <a:solidFill>
                      <a:srgbClr val="0D131D"/>
                    </a:solidFill>
                  </a:tcPr>
                </a:tc>
              </a:tr>
              <a:tr h="657225">
                <a:tc>
                  <a:txBody>
                    <a:bodyPr>
                      <a:noAutofit/>
                    </a:bodyPr>
                    <a:lstStyle/>
                    <a:p>
                      <a:r>
                        <a:rPr sz="2025" b="0">
                          <a:solidFill>
                            <a:srgbClr val="E8EEF6"/>
                          </a:solidFill>
                          <a:latin typeface="Microsoft YaHei"/>
                          <a:ea typeface="Microsoft YaHei"/>
                          <a:cs typeface="Microsoft YaHei"/>
                        </a:rPr>
                        <a:t>HighQC</a:t>
                      </a:r>
                    </a:p>
                  </a:txBody>
                  <a:tcPr marL="91440" marR="91440" marT="45720" marB="45720">
                    <a:solidFill>
                      <a:srgbClr val="172232"/>
                    </a:solidFill>
                  </a:tcPr>
                </a:tc>
                <a:tc>
                  <a:txBody>
                    <a:bodyPr>
                      <a:noAutofit/>
                    </a:bodyPr>
                    <a:lstStyle/>
                    <a:p>
                      <a:r>
                        <a:rPr sz="2025" b="0">
                          <a:solidFill>
                            <a:srgbClr val="E8EEF6"/>
                          </a:solidFill>
                          <a:latin typeface="Microsoft YaHei"/>
                          <a:ea typeface="Microsoft YaHei"/>
                          <a:cs typeface="Microsoft YaHei"/>
                        </a:rPr>
                        <a:t>Highest-view certificate known locally</a:t>
                      </a:r>
                    </a:p>
                  </a:txBody>
                  <a:tcPr marL="91440" marR="91440" marT="45720" marB="45720">
                    <a:solidFill>
                      <a:srgbClr val="172232"/>
                    </a:solidFill>
                  </a:tcPr>
                </a:tc>
              </a:tr>
              <a:tr h="657225">
                <a:tc>
                  <a:txBody>
                    <a:bodyPr>
                      <a:noAutofit/>
                    </a:bodyPr>
                    <a:lstStyle/>
                    <a:p>
                      <a:r>
                        <a:rPr sz="2025" b="0">
                          <a:solidFill>
                            <a:srgbClr val="E8EEF6"/>
                          </a:solidFill>
                          <a:latin typeface="Microsoft YaHei"/>
                          <a:ea typeface="Microsoft YaHei"/>
                          <a:cs typeface="Microsoft YaHei"/>
                        </a:rPr>
                        <a:t>LockedQC</a:t>
                      </a:r>
                    </a:p>
                  </a:txBody>
                  <a:tcPr marL="91440" marR="91440" marT="45720" marB="45720">
                    <a:solidFill>
                      <a:srgbClr val="0D131D"/>
                    </a:solidFill>
                  </a:tcPr>
                </a:tc>
                <a:tc>
                  <a:txBody>
                    <a:bodyPr>
                      <a:noAutofit/>
                    </a:bodyPr>
                    <a:lstStyle/>
                    <a:p>
                      <a:r>
                        <a:rPr sz="2025" b="0">
                          <a:solidFill>
                            <a:srgbClr val="E8EEF6"/>
                          </a:solidFill>
                          <a:latin typeface="Microsoft YaHei"/>
                          <a:ea typeface="Microsoft YaHei"/>
                          <a:cs typeface="Microsoft YaHei"/>
                        </a:rPr>
                        <a:t>Certificate used by the safe-voting rule</a:t>
                      </a:r>
                    </a:p>
                  </a:txBody>
                  <a:tcPr marL="91440" marR="91440" marT="45720" marB="45720">
                    <a:solidFill>
                      <a:srgbClr val="0D131D"/>
                    </a:solidFill>
                  </a:tcPr>
                </a:tc>
              </a:tr>
              <a:tr h="657225">
                <a:tc>
                  <a:txBody>
                    <a:bodyPr>
                      <a:noAutofit/>
                    </a:bodyPr>
                    <a:lstStyle/>
                    <a:p>
                      <a:r>
                        <a:rPr sz="2025" b="0">
                          <a:solidFill>
                            <a:srgbClr val="E8EEF6"/>
                          </a:solidFill>
                          <a:latin typeface="Microsoft YaHei"/>
                          <a:ea typeface="Microsoft YaHei"/>
                          <a:cs typeface="Microsoft YaHei"/>
                        </a:rPr>
                        <a:t>Latest block</a:t>
                      </a:r>
                    </a:p>
                  </a:txBody>
                  <a:tcPr marL="91440" marR="91440" marT="45720" marB="45720">
                    <a:solidFill>
                      <a:srgbClr val="172232"/>
                    </a:solidFill>
                  </a:tcPr>
                </a:tc>
                <a:tc>
                  <a:txBody>
                    <a:bodyPr>
                      <a:noAutofit/>
                    </a:bodyPr>
                    <a:lstStyle/>
                    <a:p>
                      <a:r>
                        <a:rPr sz="2025" b="0">
                          <a:solidFill>
                            <a:srgbClr val="E8EEF6"/>
                          </a:solidFill>
                          <a:latin typeface="Microsoft YaHei"/>
                          <a:ea typeface="Microsoft YaHei"/>
                          <a:cs typeface="Microsoft YaHei"/>
                        </a:rPr>
                        <a:t>Most recently received proposal node</a:t>
                      </a:r>
                    </a:p>
                  </a:txBody>
                  <a:tcPr marL="91440" marR="91440" marT="45720" marB="45720">
                    <a:solidFill>
                      <a:srgbClr val="172232"/>
                    </a:solidFill>
                  </a:tcPr>
                </a:tc>
              </a:tr>
              <a:tr h="657225">
                <a:tc>
                  <a:txBody>
                    <a:bodyPr>
                      <a:noAutofit/>
                    </a:bodyPr>
                    <a:lstStyle/>
                    <a:p>
                      <a:r>
                        <a:rPr sz="2025" b="0">
                          <a:solidFill>
                            <a:srgbClr val="E8EEF6"/>
                          </a:solidFill>
                          <a:latin typeface="Microsoft YaHei"/>
                          <a:ea typeface="Microsoft YaHei"/>
                          <a:cs typeface="Microsoft YaHei"/>
                        </a:rPr>
                        <a:t>Commit block</a:t>
                      </a:r>
                    </a:p>
                  </a:txBody>
                  <a:tcPr marL="91440" marR="91440" marT="45720" marB="45720">
                    <a:solidFill>
                      <a:srgbClr val="0D131D"/>
                    </a:solidFill>
                  </a:tcPr>
                </a:tc>
                <a:tc>
                  <a:txBody>
                    <a:bodyPr>
                      <a:noAutofit/>
                    </a:bodyPr>
                    <a:lstStyle/>
                    <a:p>
                      <a:r>
                        <a:rPr sz="2025" b="0">
                          <a:solidFill>
                            <a:srgbClr val="E8EEF6"/>
                          </a:solidFill>
                          <a:latin typeface="Microsoft YaHei"/>
                          <a:ea typeface="Microsoft YaHei"/>
                          <a:cs typeface="Microsoft YaHei"/>
                        </a:rPr>
                        <a:t>Most recent ancestor whose decision is final</a:t>
                      </a:r>
                    </a:p>
                  </a:txBody>
                  <a:tcPr marL="91440" marR="91440" marT="45720" marB="45720">
                    <a:solidFill>
                      <a:srgbClr val="0D131D"/>
                    </a:solidFill>
                  </a:tcPr>
                </a:tc>
              </a:tr>
            </a:tbl>
          </a:graphicData>
        </a:graphic>
      </p:graphicFrame>
      <p:sp>
        <p:nvSpPr>
          <p:cNvPr id="5" name="">
            <a:extLst xmlns:a="http://schemas.openxmlformats.org/drawingml/2006/main">
              <a:ext uri="{FF2B5EF4-FFF2-40B4-BE49-F238E27FC236}">
                <a16:creationId xmlns:a16="http://schemas.microsoft.com/office/drawing/2014/main" id="{86C5346C-CD0E-480F-BE2B-6523DBE8B17F}"/>
              </a:ext>
            </a:extLst>
          </p:cNvPr>
          <p:cNvSpPr>
            <a:spLocks xmlns:a="http://schemas.openxmlformats.org/drawingml/2006/main" noGrp="1"/>
          </p:cNvSpPr>
          <p:nvPr/>
        </p:nvSpPr>
        <p:spPr>
          <a:xfrm xmlns:a="http://schemas.openxmlformats.org/drawingml/2006/main">
            <a:off x="609600" y="581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77DDB8"/>
                </a:solidFill>
                <a:latin typeface="Microsoft YaHei"/>
                <a:ea typeface="Microsoft YaHei"/>
                <a:cs typeface="Microsoft YaHei"/>
              </a:defRPr>
            </a:pPr>
            <a:r>
              <a:rPr sz="1950" b="0">
                <a:solidFill>
                  <a:srgbClr val="77DDB8"/>
                </a:solidFill>
                <a:latin typeface="Microsoft YaHei"/>
                <a:ea typeface="Microsoft YaHei"/>
                <a:cs typeface="Microsoft YaHei"/>
              </a:rPr>
              <a:t>This session uses empty payloads. B0 is the pretrusted starting point.</a:t>
            </a:r>
          </a:p>
        </p:txBody>
      </p:sp>
    </p:spTree>
    <p:extLst>
      <p:ext uri="{BB962C8B-B14F-4D97-AF65-F5344CB8AC3E}">
        <p14:creationId xmlns:p14="http://schemas.microsoft.com/office/powerpoint/2010/main" val="1748155127"/>
      </p:ext>
    </p:extLst>
  </p:cSld>
</p:sld>
</file>

<file path=ppt/slides/slide6.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6B8522-BFF5-49C1-B091-4E2F4A165C09}"/>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Demo 0: Initial State</a:t>
            </a:r>
          </a:p>
        </p:txBody>
      </p:sp>
      <p:sp>
        <p:nvSpPr>
          <p:cNvPr id="2" name="">
            <a:extLst xmlns:a="http://schemas.openxmlformats.org/drawingml/2006/main">
              <a:ext uri="{FF2B5EF4-FFF2-40B4-BE49-F238E27FC236}">
                <a16:creationId xmlns:a16="http://schemas.microsoft.com/office/drawing/2014/main" id="{5217A9AC-3B18-43EF-B594-82C0D947B5E3}"/>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D4E7B8E4-4E2E-404F-A60C-776709FEFCC1}"/>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06</a:t>
            </a:r>
          </a:p>
        </p:txBody>
      </p:sp>
      <p:sp>
        <p:nvSpPr>
          <p:cNvPr id="4" name="">
            <a:extLst xmlns:a="http://schemas.openxmlformats.org/drawingml/2006/main">
              <a:ext uri="{FF2B5EF4-FFF2-40B4-BE49-F238E27FC236}">
                <a16:creationId xmlns:a16="http://schemas.microsoft.com/office/drawing/2014/main" id="{1524548F-20FF-4CA1-A19D-B68E639AAE97}"/>
              </a:ext>
            </a:extLst>
          </p:cNvPr>
          <p:cNvSpPr>
            <a:spLocks xmlns:a="http://schemas.openxmlformats.org/drawingml/2006/main" noGrp="1"/>
          </p:cNvSpPr>
          <p:nvPr/>
        </p:nvSpPr>
        <p:spPr>
          <a:xfrm xmlns:a="http://schemas.openxmlformats.org/drawingml/2006/main">
            <a:off x="609600" y="1200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87B7FF"/>
                </a:solidFill>
                <a:latin typeface="Microsoft YaHei"/>
                <a:ea typeface="Microsoft YaHei"/>
                <a:cs typeface="Microsoft YaHei"/>
              </a:defRPr>
            </a:pPr>
            <a:r>
              <a:rPr sz="1950" b="1">
                <a:solidFill>
                  <a:srgbClr val="87B7FF"/>
                </a:solidFill>
                <a:latin typeface="Microsoft YaHei"/>
                <a:ea typeface="Microsoft YaHei"/>
                <a:cs typeface="Microsoft YaHei"/>
              </a:rPr>
              <a:t>Click Reset and keep the demo paused. Inspect all four replicas.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5dfd3b13a7c4f16"/>
          <a:srcRect xmlns:a="http://schemas.openxmlformats.org/drawingml/2006/main" l="0" t="0" r="0" b="0"/>
          <a:stretch xmlns:a="http://schemas.openxmlformats.org/drawingml/2006/main">
            <a:fillRect l="0" t="0" r="0" b="0"/>
          </a:stretch>
        </p:blipFill>
        <p:spPr>
          <a:xfrm xmlns:a="http://schemas.openxmlformats.org/drawingml/2006/main">
            <a:off x="609600" y="1782509"/>
            <a:ext cx="10972800" cy="42454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D7CFA5C-BF7C-4C89-8DB2-3F0BDCBA41D2}"/>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7DDB8"/>
                </a:solidFill>
                <a:latin typeface="Microsoft YaHei"/>
                <a:ea typeface="Microsoft YaHei"/>
                <a:cs typeface="Microsoft YaHei"/>
              </a:defRPr>
            </a:pPr>
            <a:r>
              <a:rPr sz="1575" b="0">
                <a:solidFill>
                  <a:srgbClr val="77DDB8"/>
                </a:solidFill>
                <a:latin typeface="Microsoft YaHei"/>
                <a:ea typeface="Microsoft YaHei"/>
                <a:cs typeface="Microsoft YaHei"/>
              </a:rPr>
              <a:t>View 1, leader N1. HighQC = LockedQC = Commit block = B0.</a:t>
            </a:r>
          </a:p>
        </p:txBody>
      </p:sp>
    </p:spTree>
    <p:extLst>
      <p:ext uri="{BB962C8B-B14F-4D97-AF65-F5344CB8AC3E}">
        <p14:creationId xmlns:p14="http://schemas.microsoft.com/office/powerpoint/2010/main" val="1389451834"/>
      </p:ext>
    </p:extLst>
  </p:cSld>
</p:sld>
</file>

<file path=ppt/slides/slide7.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12F196-A5C9-41B8-BE43-C6F45AE27AE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Demo 1: The Leader Proposes</a:t>
            </a:r>
          </a:p>
        </p:txBody>
      </p:sp>
      <p:sp>
        <p:nvSpPr>
          <p:cNvPr id="2" name="">
            <a:extLst xmlns:a="http://schemas.openxmlformats.org/drawingml/2006/main">
              <a:ext uri="{FF2B5EF4-FFF2-40B4-BE49-F238E27FC236}">
                <a16:creationId xmlns:a16="http://schemas.microsoft.com/office/drawing/2014/main" id="{CEA9D501-D9E4-4DF4-A36E-12867D7D72D9}"/>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6892AB2A-D269-46DF-84A6-59EF83C90655}"/>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07</a:t>
            </a:r>
          </a:p>
        </p:txBody>
      </p:sp>
      <p:sp>
        <p:nvSpPr>
          <p:cNvPr id="4" name="">
            <a:extLst xmlns:a="http://schemas.openxmlformats.org/drawingml/2006/main">
              <a:ext uri="{FF2B5EF4-FFF2-40B4-BE49-F238E27FC236}">
                <a16:creationId xmlns:a16="http://schemas.microsoft.com/office/drawing/2014/main" id="{2B12E4C8-4721-47A9-A5AD-78072DBD29BE}"/>
              </a:ext>
            </a:extLst>
          </p:cNvPr>
          <p:cNvSpPr>
            <a:spLocks xmlns:a="http://schemas.openxmlformats.org/drawingml/2006/main" noGrp="1"/>
          </p:cNvSpPr>
          <p:nvPr/>
        </p:nvSpPr>
        <p:spPr>
          <a:xfrm xmlns:a="http://schemas.openxmlformats.org/drawingml/2006/main">
            <a:off x="609600" y="1200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87B7FF"/>
                </a:solidFill>
                <a:latin typeface="Microsoft YaHei"/>
                <a:ea typeface="Microsoft YaHei"/>
                <a:cs typeface="Microsoft YaHei"/>
              </a:defRPr>
            </a:pPr>
            <a:r>
              <a:rPr sz="1950" b="1">
                <a:solidFill>
                  <a:srgbClr val="87B7FF"/>
                </a:solidFill>
                <a:latin typeface="Microsoft YaHei"/>
                <a:ea typeface="Microsoft YaHei"/>
                <a:cs typeface="Microsoft YaHei"/>
              </a:rPr>
              <a:t>From the initial state, click Next Step once. Stop at STEP 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3436c86c39b4036"/>
          <a:srcRect xmlns:a="http://schemas.openxmlformats.org/drawingml/2006/main" l="0" t="0" r="0" b="0"/>
          <a:stretch xmlns:a="http://schemas.openxmlformats.org/drawingml/2006/main">
            <a:fillRect l="0" t="0" r="0" b="0"/>
          </a:stretch>
        </p:blipFill>
        <p:spPr>
          <a:xfrm xmlns:a="http://schemas.openxmlformats.org/drawingml/2006/main">
            <a:off x="609600" y="1782509"/>
            <a:ext cx="10972800" cy="42454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8729B9-577E-4762-9C31-215E3DDAF00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7DDB8"/>
                </a:solidFill>
                <a:latin typeface="Microsoft YaHei"/>
                <a:ea typeface="Microsoft YaHei"/>
                <a:cs typeface="Microsoft YaHei"/>
              </a:defRPr>
            </a:pPr>
            <a:r>
              <a:rPr sz="1575" b="0">
                <a:solidFill>
                  <a:srgbClr val="77DDB8"/>
                </a:solidFill>
                <a:latin typeface="Microsoft YaHei"/>
                <a:ea typeface="Microsoft YaHei"/>
                <a:cs typeface="Microsoft YaHei"/>
              </a:rPr>
              <a:t>Latest block advances to B1. HighQC and Commit block remain at B0.</a:t>
            </a:r>
          </a:p>
        </p:txBody>
      </p:sp>
    </p:spTree>
    <p:extLst>
      <p:ext uri="{BB962C8B-B14F-4D97-AF65-F5344CB8AC3E}">
        <p14:creationId xmlns:p14="http://schemas.microsoft.com/office/powerpoint/2010/main" val="548976692"/>
      </p:ext>
    </p:extLst>
  </p:cSld>
</p:sld>
</file>

<file path=ppt/slides/slide8.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2CDF9C-4DF7-4EF4-8952-9DE60BAEA69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Vote: A Replica's Acceptance Rules</a:t>
            </a:r>
          </a:p>
        </p:txBody>
      </p:sp>
      <p:sp>
        <p:nvSpPr>
          <p:cNvPr id="2" name="">
            <a:extLst xmlns:a="http://schemas.openxmlformats.org/drawingml/2006/main">
              <a:ext uri="{FF2B5EF4-FFF2-40B4-BE49-F238E27FC236}">
                <a16:creationId xmlns:a16="http://schemas.microsoft.com/office/drawing/2014/main" id="{1AD0ED02-FA4B-460F-B65B-B14A03CBCE9A}"/>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00C9D81B-6834-4B5C-BF4C-BB6E7F65B7F8}"/>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08</a:t>
            </a:r>
          </a:p>
        </p:txBody>
      </p:sp>
      <p:sp>
        <p:nvSpPr>
          <p:cNvPr id="4" name="">
            <a:extLst xmlns:a="http://schemas.openxmlformats.org/drawingml/2006/main">
              <a:ext uri="{FF2B5EF4-FFF2-40B4-BE49-F238E27FC236}">
                <a16:creationId xmlns:a16="http://schemas.microsoft.com/office/drawing/2014/main" id="{F492526E-589E-4F04-9815-87B26D6A8413}"/>
              </a:ext>
            </a:extLst>
          </p:cNvPr>
          <p:cNvSpPr>
            <a:spLocks xmlns:a="http://schemas.openxmlformats.org/drawingml/2006/main" noGrp="1"/>
          </p:cNvSpPr>
          <p:nvPr/>
        </p:nvSpPr>
        <p:spPr>
          <a:xfrm xmlns:a="http://schemas.openxmlformats.org/drawingml/2006/main">
            <a:off x="609600" y="14668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77DDB8"/>
                </a:solidFill>
                <a:latin typeface="Microsoft YaHei"/>
                <a:ea typeface="Microsoft YaHei"/>
                <a:cs typeface="Microsoft YaHei"/>
              </a:defRPr>
            </a:pPr>
            <a:r>
              <a:rPr sz="2775" b="1">
                <a:solidFill>
                  <a:srgbClr val="77DDB8"/>
                </a:solidFill>
                <a:latin typeface="Microsoft YaHei"/>
                <a:ea typeface="Microsoft YaHei"/>
                <a:cs typeface="Microsoft YaHei"/>
              </a:rPr>
              <a:t>Each correct replica votes at most once per view</a:t>
            </a:r>
          </a:p>
        </p:txBody>
      </p:sp>
      <p:sp>
        <p:nvSpPr>
          <p:cNvPr id="5" name="">
            <a:extLst xmlns:a="http://schemas.openxmlformats.org/drawingml/2006/main">
              <a:ext uri="{FF2B5EF4-FFF2-40B4-BE49-F238E27FC236}">
                <a16:creationId xmlns:a16="http://schemas.microsoft.com/office/drawing/2014/main" id="{68DFFEF3-C31C-4F25-B705-C1D5DD62E4F1}"/>
              </a:ext>
            </a:extLst>
          </p:cNvPr>
          <p:cNvSpPr>
            <a:spLocks xmlns:a="http://schemas.openxmlformats.org/drawingml/2006/main" noGrp="1"/>
          </p:cNvSpPr>
          <p:nvPr/>
        </p:nvSpPr>
        <p:spPr>
          <a:xfrm xmlns:a="http://schemas.openxmlformats.org/drawingml/2006/main">
            <a:off x="609600" y="24860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87B7FF"/>
                </a:solidFill>
                <a:latin typeface="Microsoft YaHei"/>
                <a:ea typeface="Microsoft YaHei"/>
                <a:cs typeface="Microsoft YaHei"/>
              </a:defRPr>
            </a:pPr>
            <a:r>
              <a:rPr sz="2100" b="1">
                <a:solidFill>
                  <a:srgbClr val="87B7FF"/>
                </a:solidFill>
                <a:latin typeface="Microsoft YaHei"/>
                <a:ea typeface="Microsoft YaHei"/>
                <a:cs typeface="Microsoft YaHei"/>
              </a:rPr>
              <a:t>Basic checks</a:t>
            </a:r>
          </a:p>
        </p:txBody>
      </p:sp>
      <p:sp>
        <p:nvSpPr>
          <p:cNvPr id="6" name="">
            <a:extLst xmlns:a="http://schemas.openxmlformats.org/drawingml/2006/main">
              <a:ext uri="{FF2B5EF4-FFF2-40B4-BE49-F238E27FC236}">
                <a16:creationId xmlns:a16="http://schemas.microsoft.com/office/drawing/2014/main" id="{EEFF6F91-40A0-475A-BA6F-C9CBEEBDA0FB}"/>
              </a:ext>
            </a:extLst>
          </p:cNvPr>
          <p:cNvSpPr>
            <a:spLocks xmlns:a="http://schemas.openxmlformats.org/drawingml/2006/main" noGrp="1"/>
          </p:cNvSpPr>
          <p:nvPr/>
        </p:nvSpPr>
        <p:spPr>
          <a:xfrm xmlns:a="http://schemas.openxmlformats.org/drawingml/2006/main">
            <a:off x="609600" y="29146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Current view, designated leader, valid parent QC and no earlier vote in this view.</a:t>
            </a:r>
          </a:p>
        </p:txBody>
      </p:sp>
      <p:sp>
        <p:nvSpPr>
          <p:cNvPr id="7" name="">
            <a:extLst xmlns:a="http://schemas.openxmlformats.org/drawingml/2006/main">
              <a:ext uri="{FF2B5EF4-FFF2-40B4-BE49-F238E27FC236}">
                <a16:creationId xmlns:a16="http://schemas.microsoft.com/office/drawing/2014/main" id="{A336AB02-D2E2-4C1C-B62C-7B8B122EA33F}"/>
              </a:ext>
            </a:extLst>
          </p:cNvPr>
          <p:cNvSpPr>
            <a:spLocks xmlns:a="http://schemas.openxmlformats.org/drawingml/2006/main" noGrp="1"/>
          </p:cNvSpPr>
          <p:nvPr/>
        </p:nvSpPr>
        <p:spPr>
          <a:xfrm xmlns:a="http://schemas.openxmlformats.org/drawingml/2006/main">
            <a:off x="609600" y="3590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87B7FF"/>
                </a:solidFill>
                <a:latin typeface="Microsoft YaHei"/>
                <a:ea typeface="Microsoft YaHei"/>
                <a:cs typeface="Microsoft YaHei"/>
              </a:defRPr>
            </a:pPr>
            <a:r>
              <a:rPr sz="2100" b="1">
                <a:solidFill>
                  <a:srgbClr val="87B7FF"/>
                </a:solidFill>
                <a:latin typeface="Microsoft YaHei"/>
                <a:ea typeface="Microsoft YaHei"/>
                <a:cs typeface="Microsoft YaHei"/>
              </a:rPr>
              <a:t>Either safety condition must hold</a:t>
            </a:r>
          </a:p>
        </p:txBody>
      </p:sp>
      <p:sp>
        <p:nvSpPr>
          <p:cNvPr id="8" name="">
            <a:extLst xmlns:a="http://schemas.openxmlformats.org/drawingml/2006/main">
              <a:ext uri="{FF2B5EF4-FFF2-40B4-BE49-F238E27FC236}">
                <a16:creationId xmlns:a16="http://schemas.microsoft.com/office/drawing/2014/main" id="{2E82AC8D-4CEF-4D1B-9C96-580C6CE0B137}"/>
              </a:ext>
            </a:extLst>
          </p:cNvPr>
          <p:cNvSpPr>
            <a:spLocks xmlns:a="http://schemas.openxmlformats.org/drawingml/2006/main" noGrp="1"/>
          </p:cNvSpPr>
          <p:nvPr/>
        </p:nvSpPr>
        <p:spPr>
          <a:xfrm xmlns:a="http://schemas.openxmlformats.org/drawingml/2006/main">
            <a:off x="609600" y="4019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Extend the locked node, or carry a QC with a strictly higher view than LockedQC.</a:t>
            </a:r>
          </a:p>
        </p:txBody>
      </p:sp>
      <p:sp>
        <p:nvSpPr>
          <p:cNvPr id="9" name="">
            <a:extLst xmlns:a="http://schemas.openxmlformats.org/drawingml/2006/main">
              <a:ext uri="{FF2B5EF4-FFF2-40B4-BE49-F238E27FC236}">
                <a16:creationId xmlns:a16="http://schemas.microsoft.com/office/drawing/2014/main" id="{A62446E4-37CB-4C25-9640-90235F6A0CE6}"/>
              </a:ext>
            </a:extLst>
          </p:cNvPr>
          <p:cNvSpPr>
            <a:spLocks xmlns:a="http://schemas.openxmlformats.org/drawingml/2006/main" noGrp="1"/>
          </p:cNvSpPr>
          <p:nvPr/>
        </p:nvSpPr>
        <p:spPr>
          <a:xfrm xmlns:a="http://schemas.openxmlformats.org/drawingml/2006/main">
            <a:off x="609600" y="4695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87B7FF"/>
                </a:solidFill>
                <a:latin typeface="Microsoft YaHei"/>
                <a:ea typeface="Microsoft YaHei"/>
                <a:cs typeface="Microsoft YaHei"/>
              </a:defRPr>
            </a:pPr>
            <a:r>
              <a:rPr sz="2100" b="1">
                <a:solidFill>
                  <a:srgbClr val="87B7FF"/>
                </a:solidFill>
                <a:latin typeface="Microsoft YaHei"/>
                <a:ea typeface="Microsoft YaHei"/>
                <a:cs typeface="Microsoft YaHei"/>
              </a:rPr>
              <a:t>Demo steps</a:t>
            </a:r>
          </a:p>
        </p:txBody>
      </p:sp>
      <p:sp>
        <p:nvSpPr>
          <p:cNvPr id="10" name="">
            <a:extLst xmlns:a="http://schemas.openxmlformats.org/drawingml/2006/main">
              <a:ext uri="{FF2B5EF4-FFF2-40B4-BE49-F238E27FC236}">
                <a16:creationId xmlns:a16="http://schemas.microsoft.com/office/drawing/2014/main" id="{690BB478-489E-463A-9917-4669851A2603}"/>
              </a:ext>
            </a:extLst>
          </p:cNvPr>
          <p:cNvSpPr>
            <a:spLocks xmlns:a="http://schemas.openxmlformats.org/drawingml/2006/main" noGrp="1"/>
          </p:cNvSpPr>
          <p:nvPr/>
        </p:nvSpPr>
        <p:spPr>
          <a:xfrm xmlns:a="http://schemas.openxmlformats.org/drawingml/2006/main">
            <a:off x="609600" y="51244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E8EEF6"/>
                </a:solidFill>
                <a:latin typeface="Microsoft YaHei"/>
                <a:ea typeface="Microsoft YaHei"/>
                <a:cs typeface="Microsoft YaHei"/>
              </a:defRPr>
            </a:pPr>
            <a:r>
              <a:rPr sz="1800" b="0">
                <a:solidFill>
                  <a:srgbClr val="E8EEF6"/>
                </a:solidFill>
                <a:latin typeface="Microsoft YaHei"/>
                <a:ea typeface="Microsoft YaHei"/>
                <a:cs typeface="Microsoft YaHei"/>
              </a:rPr>
              <a:t>STEP 2–5 show the votes of N1, N2, N3 and N4 in order.</a:t>
            </a:r>
          </a:p>
        </p:txBody>
      </p:sp>
    </p:spTree>
    <p:extLst>
      <p:ext uri="{BB962C8B-B14F-4D97-AF65-F5344CB8AC3E}">
        <p14:creationId xmlns:p14="http://schemas.microsoft.com/office/powerpoint/2010/main" val="308100032"/>
      </p:ext>
    </p:extLst>
  </p:cSld>
</p:sld>
</file>

<file path=ppt/slides/slide9.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518075-47E9-426E-8B5C-10869C6AAA4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Demo 2: Votes Form a QC</a:t>
            </a:r>
          </a:p>
        </p:txBody>
      </p:sp>
      <p:sp>
        <p:nvSpPr>
          <p:cNvPr id="2" name="">
            <a:extLst xmlns:a="http://schemas.openxmlformats.org/drawingml/2006/main">
              <a:ext uri="{FF2B5EF4-FFF2-40B4-BE49-F238E27FC236}">
                <a16:creationId xmlns:a16="http://schemas.microsoft.com/office/drawing/2014/main" id="{0FDBA498-BB3D-48C2-A1C5-63D175742869}"/>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F636FED7-1717-455F-B518-6A2D28D8B985}"/>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09</a:t>
            </a:r>
          </a:p>
        </p:txBody>
      </p:sp>
      <p:sp>
        <p:nvSpPr>
          <p:cNvPr id="4" name="">
            <a:extLst xmlns:a="http://schemas.openxmlformats.org/drawingml/2006/main">
              <a:ext uri="{FF2B5EF4-FFF2-40B4-BE49-F238E27FC236}">
                <a16:creationId xmlns:a16="http://schemas.microsoft.com/office/drawing/2014/main" id="{791E8F84-1B0B-4F5B-AAB6-A2CA9552F4BD}"/>
              </a:ext>
            </a:extLst>
          </p:cNvPr>
          <p:cNvSpPr>
            <a:spLocks xmlns:a="http://schemas.openxmlformats.org/drawingml/2006/main" noGrp="1"/>
          </p:cNvSpPr>
          <p:nvPr/>
        </p:nvSpPr>
        <p:spPr>
          <a:xfrm xmlns:a="http://schemas.openxmlformats.org/drawingml/2006/main">
            <a:off x="609600" y="1200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87B7FF"/>
                </a:solidFill>
                <a:latin typeface="Microsoft YaHei"/>
                <a:ea typeface="Microsoft YaHei"/>
                <a:cs typeface="Microsoft YaHei"/>
              </a:defRPr>
            </a:pPr>
            <a:r>
              <a:rPr sz="1950" b="1">
                <a:solidFill>
                  <a:srgbClr val="87B7FF"/>
                </a:solidFill>
                <a:latin typeface="Microsoft YaHei"/>
                <a:ea typeface="Microsoft YaHei"/>
                <a:cs typeface="Microsoft YaHei"/>
              </a:rPr>
              <a:t>Continue to STEP 6. Observe QC(B1) formed.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e19f08758684759"/>
          <a:srcRect xmlns:a="http://schemas.openxmlformats.org/drawingml/2006/main" l="0" t="0" r="0" b="0"/>
          <a:stretch xmlns:a="http://schemas.openxmlformats.org/drawingml/2006/main">
            <a:fillRect l="0" t="0" r="0" b="0"/>
          </a:stretch>
        </p:blipFill>
        <p:spPr>
          <a:xfrm xmlns:a="http://schemas.openxmlformats.org/drawingml/2006/main">
            <a:off x="609600" y="1782509"/>
            <a:ext cx="10972800" cy="42454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9064EA-ABCD-41C2-9FBF-12C3691E466F}"/>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7DDB8"/>
                </a:solidFill>
                <a:latin typeface="Microsoft YaHei"/>
                <a:ea typeface="Microsoft YaHei"/>
                <a:cs typeface="Microsoft YaHei"/>
              </a:defRPr>
            </a:pPr>
            <a:r>
              <a:rPr sz="1575" b="0">
                <a:solidFill>
                  <a:srgbClr val="77DDB8"/>
                </a:solidFill>
                <a:latin typeface="Microsoft YaHei"/>
                <a:ea typeface="Microsoft YaHei"/>
                <a:cs typeface="Microsoft YaHei"/>
              </a:rPr>
              <a:t>HighQC = B1, LockedQC = B0, Commit block = B0.</a:t>
            </a:r>
          </a:p>
        </p:txBody>
      </p:sp>
    </p:spTree>
    <p:extLst>
      <p:ext uri="{BB962C8B-B14F-4D97-AF65-F5344CB8AC3E}">
        <p14:creationId xmlns:p14="http://schemas.microsoft.com/office/powerpoint/2010/main" val="798767162"/>
      </p:ext>
    </p:extLst>
  </p:cSld>
</p:sld>
</file>

<file path=ppt/slides/slide10.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54B511-5B14-4115-8F48-0707CF5E434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View Change Preserves Known Progress</a:t>
            </a:r>
          </a:p>
        </p:txBody>
      </p:sp>
      <p:sp>
        <p:nvSpPr>
          <p:cNvPr id="2" name="">
            <a:extLst xmlns:a="http://schemas.openxmlformats.org/drawingml/2006/main">
              <a:ext uri="{FF2B5EF4-FFF2-40B4-BE49-F238E27FC236}">
                <a16:creationId xmlns:a16="http://schemas.microsoft.com/office/drawing/2014/main" id="{5F169D0D-8559-4291-B139-FC95A4090BEF}"/>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01D83B67-7202-4307-ABB6-17F1727F2AF4}"/>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10</a:t>
            </a:r>
          </a:p>
        </p:txBody>
      </p:sp>
      <p:sp>
        <p:nvSpPr>
          <p:cNvPr id="4" name="">
            <a:extLst xmlns:a="http://schemas.openxmlformats.org/drawingml/2006/main">
              <a:ext uri="{FF2B5EF4-FFF2-40B4-BE49-F238E27FC236}">
                <a16:creationId xmlns:a16="http://schemas.microsoft.com/office/drawing/2014/main" id="{C4648E6B-096E-41F7-95AC-DF7D1961A7D6}"/>
              </a:ext>
            </a:extLst>
          </p:cNvPr>
          <p:cNvSpPr>
            <a:spLocks xmlns:a="http://schemas.openxmlformats.org/drawingml/2006/main" noGrp="1"/>
          </p:cNvSpPr>
          <p:nvPr/>
        </p:nvSpPr>
        <p:spPr>
          <a:xfrm xmlns:a="http://schemas.openxmlformats.org/drawingml/2006/main">
            <a:off x="609600" y="15049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87B7FF"/>
                </a:solidFill>
                <a:latin typeface="Microsoft YaHei"/>
                <a:ea typeface="Microsoft YaHei"/>
                <a:cs typeface="Microsoft YaHei"/>
              </a:defRPr>
            </a:pPr>
            <a:r>
              <a:rPr sz="2775" b="1">
                <a:solidFill>
                  <a:srgbClr val="87B7FF"/>
                </a:solidFill>
                <a:latin typeface="Microsoft YaHei"/>
                <a:ea typeface="Microsoft YaHei"/>
                <a:cs typeface="Microsoft YaHei"/>
              </a:rPr>
              <a:t>Leader(view) = ((view − 1) mod 4) + 1</a:t>
            </a:r>
          </a:p>
        </p:txBody>
      </p:sp>
      <p:graphicFrame>
        <p:nvGraphicFramePr>
          <p:cNvPr id="11" name=""/>
          <p:cNvGraphicFramePr/>
          <p:nvPr/>
        </p:nvGraphicFramePr>
        <p:xfrm>
          <a:off xmlns:a="http://schemas.openxmlformats.org/drawingml/2006/main" x="609600" y="2409825"/>
          <a:ext xmlns:a="http://schemas.openxmlformats.org/drawingml/2006/main" cx="10972800" cy="2876550"/>
        </p:xfrm>
        <a:graphic xmlns:a="http://schemas.openxmlformats.org/drawingml/2006/main">
          <a:graphicData uri="http://schemas.openxmlformats.org/drawingml/2006/table">
            <a:tbl>
              <a:tblPr/>
              <a:tblGrid>
                <a:gridCol w="1809750"/>
                <a:gridCol w="1905000"/>
                <a:gridCol w="7258050"/>
              </a:tblGrid>
              <a:tr h="575310">
                <a:tc>
                  <a:txBody>
                    <a:bodyPr>
                      <a:noAutofit/>
                    </a:bodyPr>
                    <a:lstStyle/>
                    <a:p>
                      <a:r>
                        <a:rPr sz="2100" b="1">
                          <a:solidFill>
                            <a:srgbClr val="87B7FF"/>
                          </a:solidFill>
                          <a:latin typeface="Microsoft YaHei"/>
                          <a:ea typeface="Microsoft YaHei"/>
                          <a:cs typeface="Microsoft YaHei"/>
                        </a:rPr>
                        <a:t>View</a:t>
                      </a:r>
                    </a:p>
                  </a:txBody>
                  <a:tcPr marL="91440" marR="91440" marT="45720" marB="45720">
                    <a:solidFill>
                      <a:srgbClr val="233750"/>
                    </a:solidFill>
                  </a:tcPr>
                </a:tc>
                <a:tc>
                  <a:txBody>
                    <a:bodyPr>
                      <a:noAutofit/>
                    </a:bodyPr>
                    <a:lstStyle/>
                    <a:p>
                      <a:r>
                        <a:rPr sz="2100" b="1">
                          <a:solidFill>
                            <a:srgbClr val="87B7FF"/>
                          </a:solidFill>
                          <a:latin typeface="Microsoft YaHei"/>
                          <a:ea typeface="Microsoft YaHei"/>
                          <a:cs typeface="Microsoft YaHei"/>
                        </a:rPr>
                        <a:t>Leader</a:t>
                      </a:r>
                    </a:p>
                  </a:txBody>
                  <a:tcPr marL="91440" marR="91440" marT="45720" marB="45720">
                    <a:solidFill>
                      <a:srgbClr val="233750"/>
                    </a:solidFill>
                  </a:tcPr>
                </a:tc>
                <a:tc>
                  <a:txBody>
                    <a:bodyPr>
                      <a:noAutofit/>
                    </a:bodyPr>
                    <a:lstStyle/>
                    <a:p>
                      <a:r>
                        <a:rPr sz="2100" b="1">
                          <a:solidFill>
                            <a:srgbClr val="87B7FF"/>
                          </a:solidFill>
                          <a:latin typeface="Microsoft YaHei"/>
                          <a:ea typeface="Microsoft YaHei"/>
                          <a:cs typeface="Microsoft YaHei"/>
                        </a:rPr>
                        <a:t>Extension point on the successful path</a:t>
                      </a:r>
                    </a:p>
                  </a:txBody>
                  <a:tcPr marL="91440" marR="91440" marT="45720" marB="45720">
                    <a:solidFill>
                      <a:srgbClr val="233750"/>
                    </a:solidFill>
                  </a:tcPr>
                </a:tc>
              </a:tr>
              <a:tr h="575310">
                <a:tc>
                  <a:txBody>
                    <a:bodyPr>
                      <a:noAutofit/>
                    </a:bodyPr>
                    <a:lstStyle/>
                    <a:p>
                      <a:r>
                        <a:rPr sz="2100" b="0">
                          <a:solidFill>
                            <a:srgbClr val="E8EEF6"/>
                          </a:solidFill>
                          <a:latin typeface="Microsoft YaHei"/>
                          <a:ea typeface="Microsoft YaHei"/>
                          <a:cs typeface="Microsoft YaHei"/>
                        </a:rPr>
                        <a:t>1</a:t>
                      </a:r>
                    </a:p>
                  </a:txBody>
                  <a:tcPr marL="91440" marR="91440" marT="45720" marB="45720">
                    <a:solidFill>
                      <a:srgbClr val="0D131D"/>
                    </a:solidFill>
                  </a:tcPr>
                </a:tc>
                <a:tc>
                  <a:txBody>
                    <a:bodyPr>
                      <a:noAutofit/>
                    </a:bodyPr>
                    <a:lstStyle/>
                    <a:p>
                      <a:r>
                        <a:rPr sz="2100" b="0">
                          <a:solidFill>
                            <a:srgbClr val="E8EEF6"/>
                          </a:solidFill>
                          <a:latin typeface="Microsoft YaHei"/>
                          <a:ea typeface="Microsoft YaHei"/>
                          <a:cs typeface="Microsoft YaHei"/>
                        </a:rPr>
                        <a:t>N1</a:t>
                      </a:r>
                    </a:p>
                  </a:txBody>
                  <a:tcPr marL="91440" marR="91440" marT="45720" marB="45720">
                    <a:solidFill>
                      <a:srgbClr val="0D131D"/>
                    </a:solidFill>
                  </a:tcPr>
                </a:tc>
                <a:tc>
                  <a:txBody>
                    <a:bodyPr>
                      <a:noAutofit/>
                    </a:bodyPr>
                    <a:lstStyle/>
                    <a:p>
                      <a:r>
                        <a:rPr sz="2100" b="0">
                          <a:solidFill>
                            <a:srgbClr val="E8EEF6"/>
                          </a:solidFill>
                          <a:latin typeface="Microsoft YaHei"/>
                          <a:ea typeface="Microsoft YaHei"/>
                          <a:cs typeface="Microsoft YaHei"/>
                        </a:rPr>
                        <a:t>B0 / QC(B0)</a:t>
                      </a:r>
                    </a:p>
                  </a:txBody>
                  <a:tcPr marL="91440" marR="91440" marT="45720" marB="45720">
                    <a:solidFill>
                      <a:srgbClr val="0D131D"/>
                    </a:solidFill>
                  </a:tcPr>
                </a:tc>
              </a:tr>
              <a:tr h="575310">
                <a:tc>
                  <a:txBody>
                    <a:bodyPr>
                      <a:noAutofit/>
                    </a:bodyPr>
                    <a:lstStyle/>
                    <a:p>
                      <a:r>
                        <a:rPr sz="2100" b="0">
                          <a:solidFill>
                            <a:srgbClr val="E8EEF6"/>
                          </a:solidFill>
                          <a:latin typeface="Microsoft YaHei"/>
                          <a:ea typeface="Microsoft YaHei"/>
                          <a:cs typeface="Microsoft YaHei"/>
                        </a:rPr>
                        <a:t>2</a:t>
                      </a:r>
                    </a:p>
                  </a:txBody>
                  <a:tcPr marL="91440" marR="91440" marT="45720" marB="45720">
                    <a:solidFill>
                      <a:srgbClr val="172232"/>
                    </a:solidFill>
                  </a:tcPr>
                </a:tc>
                <a:tc>
                  <a:txBody>
                    <a:bodyPr>
                      <a:noAutofit/>
                    </a:bodyPr>
                    <a:lstStyle/>
                    <a:p>
                      <a:r>
                        <a:rPr sz="2100" b="0">
                          <a:solidFill>
                            <a:srgbClr val="E8EEF6"/>
                          </a:solidFill>
                          <a:latin typeface="Microsoft YaHei"/>
                          <a:ea typeface="Microsoft YaHei"/>
                          <a:cs typeface="Microsoft YaHei"/>
                        </a:rPr>
                        <a:t>N2</a:t>
                      </a:r>
                    </a:p>
                  </a:txBody>
                  <a:tcPr marL="91440" marR="91440" marT="45720" marB="45720">
                    <a:solidFill>
                      <a:srgbClr val="172232"/>
                    </a:solidFill>
                  </a:tcPr>
                </a:tc>
                <a:tc>
                  <a:txBody>
                    <a:bodyPr>
                      <a:noAutofit/>
                    </a:bodyPr>
                    <a:lstStyle/>
                    <a:p>
                      <a:r>
                        <a:rPr sz="2100" b="0">
                          <a:solidFill>
                            <a:srgbClr val="E8EEF6"/>
                          </a:solidFill>
                          <a:latin typeface="Microsoft YaHei"/>
                          <a:ea typeface="Microsoft YaHei"/>
                          <a:cs typeface="Microsoft YaHei"/>
                        </a:rPr>
                        <a:t>B1 / QC(B1)</a:t>
                      </a:r>
                    </a:p>
                  </a:txBody>
                  <a:tcPr marL="91440" marR="91440" marT="45720" marB="45720">
                    <a:solidFill>
                      <a:srgbClr val="172232"/>
                    </a:solidFill>
                  </a:tcPr>
                </a:tc>
              </a:tr>
              <a:tr h="575310">
                <a:tc>
                  <a:txBody>
                    <a:bodyPr>
                      <a:noAutofit/>
                    </a:bodyPr>
                    <a:lstStyle/>
                    <a:p>
                      <a:r>
                        <a:rPr sz="2100" b="0">
                          <a:solidFill>
                            <a:srgbClr val="E8EEF6"/>
                          </a:solidFill>
                          <a:latin typeface="Microsoft YaHei"/>
                          <a:ea typeface="Microsoft YaHei"/>
                          <a:cs typeface="Microsoft YaHei"/>
                        </a:rPr>
                        <a:t>3</a:t>
                      </a:r>
                    </a:p>
                  </a:txBody>
                  <a:tcPr marL="91440" marR="91440" marT="45720" marB="45720">
                    <a:solidFill>
                      <a:srgbClr val="0D131D"/>
                    </a:solidFill>
                  </a:tcPr>
                </a:tc>
                <a:tc>
                  <a:txBody>
                    <a:bodyPr>
                      <a:noAutofit/>
                    </a:bodyPr>
                    <a:lstStyle/>
                    <a:p>
                      <a:r>
                        <a:rPr sz="2100" b="0">
                          <a:solidFill>
                            <a:srgbClr val="E8EEF6"/>
                          </a:solidFill>
                          <a:latin typeface="Microsoft YaHei"/>
                          <a:ea typeface="Microsoft YaHei"/>
                          <a:cs typeface="Microsoft YaHei"/>
                        </a:rPr>
                        <a:t>N3</a:t>
                      </a:r>
                    </a:p>
                  </a:txBody>
                  <a:tcPr marL="91440" marR="91440" marT="45720" marB="45720">
                    <a:solidFill>
                      <a:srgbClr val="0D131D"/>
                    </a:solidFill>
                  </a:tcPr>
                </a:tc>
                <a:tc>
                  <a:txBody>
                    <a:bodyPr>
                      <a:noAutofit/>
                    </a:bodyPr>
                    <a:lstStyle/>
                    <a:p>
                      <a:r>
                        <a:rPr sz="2100" b="0">
                          <a:solidFill>
                            <a:srgbClr val="E8EEF6"/>
                          </a:solidFill>
                          <a:latin typeface="Microsoft YaHei"/>
                          <a:ea typeface="Microsoft YaHei"/>
                          <a:cs typeface="Microsoft YaHei"/>
                        </a:rPr>
                        <a:t>B2 / QC(B2)</a:t>
                      </a:r>
                    </a:p>
                  </a:txBody>
                  <a:tcPr marL="91440" marR="91440" marT="45720" marB="45720">
                    <a:solidFill>
                      <a:srgbClr val="0D131D"/>
                    </a:solidFill>
                  </a:tcPr>
                </a:tc>
              </a:tr>
              <a:tr h="575310">
                <a:tc>
                  <a:txBody>
                    <a:bodyPr>
                      <a:noAutofit/>
                    </a:bodyPr>
                    <a:lstStyle/>
                    <a:p>
                      <a:r>
                        <a:rPr sz="2100" b="0">
                          <a:solidFill>
                            <a:srgbClr val="E8EEF6"/>
                          </a:solidFill>
                          <a:latin typeface="Microsoft YaHei"/>
                          <a:ea typeface="Microsoft YaHei"/>
                          <a:cs typeface="Microsoft YaHei"/>
                        </a:rPr>
                        <a:t>4</a:t>
                      </a:r>
                    </a:p>
                  </a:txBody>
                  <a:tcPr marL="91440" marR="91440" marT="45720" marB="45720">
                    <a:solidFill>
                      <a:srgbClr val="172232"/>
                    </a:solidFill>
                  </a:tcPr>
                </a:tc>
                <a:tc>
                  <a:txBody>
                    <a:bodyPr>
                      <a:noAutofit/>
                    </a:bodyPr>
                    <a:lstStyle/>
                    <a:p>
                      <a:r>
                        <a:rPr sz="2100" b="0">
                          <a:solidFill>
                            <a:srgbClr val="E8EEF6"/>
                          </a:solidFill>
                          <a:latin typeface="Microsoft YaHei"/>
                          <a:ea typeface="Microsoft YaHei"/>
                          <a:cs typeface="Microsoft YaHei"/>
                        </a:rPr>
                        <a:t>N4</a:t>
                      </a:r>
                    </a:p>
                  </a:txBody>
                  <a:tcPr marL="91440" marR="91440" marT="45720" marB="45720">
                    <a:solidFill>
                      <a:srgbClr val="172232"/>
                    </a:solidFill>
                  </a:tcPr>
                </a:tc>
                <a:tc>
                  <a:txBody>
                    <a:bodyPr>
                      <a:noAutofit/>
                    </a:bodyPr>
                    <a:lstStyle/>
                    <a:p>
                      <a:r>
                        <a:rPr sz="2100" b="0">
                          <a:solidFill>
                            <a:srgbClr val="E8EEF6"/>
                          </a:solidFill>
                          <a:latin typeface="Microsoft YaHei"/>
                          <a:ea typeface="Microsoft YaHei"/>
                          <a:cs typeface="Microsoft YaHei"/>
                        </a:rPr>
                        <a:t>B3 / QC(B3)</a:t>
                      </a:r>
                    </a:p>
                  </a:txBody>
                  <a:tcPr marL="91440" marR="91440" marT="45720" marB="45720">
                    <a:solidFill>
                      <a:srgbClr val="172232"/>
                    </a:solidFill>
                  </a:tcPr>
                </a:tc>
              </a:tr>
            </a:tbl>
          </a:graphicData>
        </a:graphic>
      </p:graphicFrame>
      <p:sp>
        <p:nvSpPr>
          <p:cNvPr id="6" name="">
            <a:extLst xmlns:a="http://schemas.openxmlformats.org/drawingml/2006/main">
              <a:ext uri="{FF2B5EF4-FFF2-40B4-BE49-F238E27FC236}">
                <a16:creationId xmlns:a16="http://schemas.microsoft.com/office/drawing/2014/main" id="{54DE8CEE-D8E1-4BC1-A93E-CA66CF54F0C1}"/>
              </a:ext>
            </a:extLst>
          </p:cNvPr>
          <p:cNvSpPr>
            <a:spLocks xmlns:a="http://schemas.openxmlformats.org/drawingml/2006/main" noGrp="1"/>
          </p:cNvSpPr>
          <p:nvPr/>
        </p:nvSpPr>
        <p:spPr>
          <a:xfrm xmlns:a="http://schemas.openxmlformats.org/drawingml/2006/main">
            <a:off x="609600" y="57245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77DDB8"/>
                </a:solidFill>
                <a:latin typeface="Microsoft YaHei"/>
                <a:ea typeface="Microsoft YaHei"/>
                <a:cs typeface="Microsoft YaHei"/>
              </a:defRPr>
            </a:pPr>
            <a:r>
              <a:rPr sz="1875" b="0">
                <a:solidFill>
                  <a:srgbClr val="77DDB8"/>
                </a:solidFill>
                <a:latin typeface="Microsoft YaHei"/>
                <a:ea typeface="Microsoft YaHei"/>
                <a:cs typeface="Microsoft YaHei"/>
              </a:rPr>
              <a:t>Pause at STEP 7 for leader rotation and STEP 8 for the new proposal's parent.</a:t>
            </a:r>
          </a:p>
        </p:txBody>
      </p:sp>
    </p:spTree>
    <p:extLst>
      <p:ext uri="{BB962C8B-B14F-4D97-AF65-F5344CB8AC3E}">
        <p14:creationId xmlns:p14="http://schemas.microsoft.com/office/powerpoint/2010/main" val="759815200"/>
      </p:ext>
    </p:extLst>
  </p:cSld>
</p:sld>
</file>

<file path=ppt/slides/slide11.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8785B6-9A34-4499-A012-7B738BDFCD6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Demo 3: HighQC and LockedQC Diverge</a:t>
            </a:r>
          </a:p>
        </p:txBody>
      </p:sp>
      <p:sp>
        <p:nvSpPr>
          <p:cNvPr id="2" name="">
            <a:extLst xmlns:a="http://schemas.openxmlformats.org/drawingml/2006/main">
              <a:ext uri="{FF2B5EF4-FFF2-40B4-BE49-F238E27FC236}">
                <a16:creationId xmlns:a16="http://schemas.microsoft.com/office/drawing/2014/main" id="{0197B378-F995-4937-A16F-13B7228F88B1}"/>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DBD82E2D-43FA-4C09-BA7C-AA9C26CC0916}"/>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11</a:t>
            </a:r>
          </a:p>
        </p:txBody>
      </p:sp>
      <p:sp>
        <p:nvSpPr>
          <p:cNvPr id="4" name="">
            <a:extLst xmlns:a="http://schemas.openxmlformats.org/drawingml/2006/main">
              <a:ext uri="{FF2B5EF4-FFF2-40B4-BE49-F238E27FC236}">
                <a16:creationId xmlns:a16="http://schemas.microsoft.com/office/drawing/2014/main" id="{C991FE73-6FEE-4225-985B-1CDC41E8506E}"/>
              </a:ext>
            </a:extLst>
          </p:cNvPr>
          <p:cNvSpPr>
            <a:spLocks xmlns:a="http://schemas.openxmlformats.org/drawingml/2006/main" noGrp="1"/>
          </p:cNvSpPr>
          <p:nvPr/>
        </p:nvSpPr>
        <p:spPr>
          <a:xfrm xmlns:a="http://schemas.openxmlformats.org/drawingml/2006/main">
            <a:off x="609600" y="1200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87B7FF"/>
                </a:solidFill>
                <a:latin typeface="Microsoft YaHei"/>
                <a:ea typeface="Microsoft YaHei"/>
                <a:cs typeface="Microsoft YaHei"/>
              </a:defRPr>
            </a:pPr>
            <a:r>
              <a:rPr sz="1950" b="1">
                <a:solidFill>
                  <a:srgbClr val="87B7FF"/>
                </a:solidFill>
                <a:latin typeface="Microsoft YaHei"/>
                <a:ea typeface="Microsoft YaHei"/>
                <a:cs typeface="Microsoft YaHei"/>
              </a:rPr>
              <a:t>Continue to STEP 13. Compare the two certificate positions.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56858fcc26d4e61"/>
          <a:srcRect xmlns:a="http://schemas.openxmlformats.org/drawingml/2006/main" l="0" t="0" r="0" b="0"/>
          <a:stretch xmlns:a="http://schemas.openxmlformats.org/drawingml/2006/main">
            <a:fillRect l="0" t="0" r="0" b="0"/>
          </a:stretch>
        </p:blipFill>
        <p:spPr>
          <a:xfrm xmlns:a="http://schemas.openxmlformats.org/drawingml/2006/main">
            <a:off x="609600" y="1782509"/>
            <a:ext cx="10972800" cy="42454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5D8019E-7460-4DD0-8548-D6E110B1A60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7DDB8"/>
                </a:solidFill>
                <a:latin typeface="Microsoft YaHei"/>
                <a:ea typeface="Microsoft YaHei"/>
                <a:cs typeface="Microsoft YaHei"/>
              </a:defRPr>
            </a:pPr>
            <a:r>
              <a:rPr sz="1575" b="0">
                <a:solidFill>
                  <a:srgbClr val="77DDB8"/>
                </a:solidFill>
                <a:latin typeface="Microsoft YaHei"/>
                <a:ea typeface="Microsoft YaHei"/>
                <a:cs typeface="Microsoft YaHei"/>
              </a:rPr>
              <a:t>QC(B2) advances HighQC to B2 and LockedQC to B1.</a:t>
            </a:r>
          </a:p>
        </p:txBody>
      </p:sp>
    </p:spTree>
    <p:extLst>
      <p:ext uri="{BB962C8B-B14F-4D97-AF65-F5344CB8AC3E}">
        <p14:creationId xmlns:p14="http://schemas.microsoft.com/office/powerpoint/2010/main" val="1911423973"/>
      </p:ext>
    </p:extLst>
  </p:cSld>
</p:sld>
</file>

<file path=ppt/slides/slide12.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DAB0A7-F057-4E96-932A-5FAB4928BE5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The Lock Rule: Which Proposals Can Pass?</a:t>
            </a:r>
          </a:p>
        </p:txBody>
      </p:sp>
      <p:sp>
        <p:nvSpPr>
          <p:cNvPr id="2" name="">
            <a:extLst xmlns:a="http://schemas.openxmlformats.org/drawingml/2006/main">
              <a:ext uri="{FF2B5EF4-FFF2-40B4-BE49-F238E27FC236}">
                <a16:creationId xmlns:a16="http://schemas.microsoft.com/office/drawing/2014/main" id="{E35AAD38-385F-43CD-9436-2B617729C1C5}"/>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B0B35158-F3DC-44A4-91AB-593B5C59635D}"/>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12</a:t>
            </a:r>
          </a:p>
        </p:txBody>
      </p:sp>
      <p:sp>
        <p:nvSpPr>
          <p:cNvPr id="4" name="">
            <a:extLst xmlns:a="http://schemas.openxmlformats.org/drawingml/2006/main">
              <a:ext uri="{FF2B5EF4-FFF2-40B4-BE49-F238E27FC236}">
                <a16:creationId xmlns:a16="http://schemas.microsoft.com/office/drawing/2014/main" id="{1A86B3E1-EEC8-4972-B3C9-6E87AE5A23F1}"/>
              </a:ext>
            </a:extLst>
          </p:cNvPr>
          <p:cNvSpPr>
            <a:spLocks xmlns:a="http://schemas.openxmlformats.org/drawingml/2006/main" noGrp="1"/>
          </p:cNvSpPr>
          <p:nvPr/>
        </p:nvSpPr>
        <p:spPr>
          <a:xfrm xmlns:a="http://schemas.openxmlformats.org/drawingml/2006/main">
            <a:off x="609600" y="1438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87B7FF"/>
                </a:solidFill>
                <a:latin typeface="Microsoft YaHei"/>
                <a:ea typeface="Microsoft YaHei"/>
                <a:cs typeface="Microsoft YaHei"/>
              </a:defRPr>
            </a:pPr>
            <a:r>
              <a:rPr sz="2325" b="0">
                <a:solidFill>
                  <a:srgbClr val="87B7FF"/>
                </a:solidFill>
                <a:latin typeface="Microsoft YaHei"/>
                <a:ea typeface="Microsoft YaHei"/>
                <a:cs typeface="Microsoft YaHei"/>
              </a:rPr>
              <a:t>Assume local LockedQC = QC(B1), with view = 1</a:t>
            </a:r>
          </a:p>
        </p:txBody>
      </p:sp>
      <p:graphicFrame>
        <p:nvGraphicFramePr>
          <p:cNvPr id="11" name=""/>
          <p:cNvGraphicFramePr/>
          <p:nvPr/>
        </p:nvGraphicFramePr>
        <p:xfrm>
          <a:off xmlns:a="http://schemas.openxmlformats.org/drawingml/2006/main" x="609600" y="2276475"/>
          <a:ext xmlns:a="http://schemas.openxmlformats.org/drawingml/2006/main" cx="10972800" cy="2847975"/>
        </p:xfrm>
        <a:graphic xmlns:a="http://schemas.openxmlformats.org/drawingml/2006/main">
          <a:graphicData uri="http://schemas.openxmlformats.org/drawingml/2006/table">
            <a:tbl>
              <a:tblPr/>
              <a:tblGrid>
                <a:gridCol w="4191000"/>
                <a:gridCol w="3714750"/>
                <a:gridCol w="3067050"/>
              </a:tblGrid>
              <a:tr h="711994">
                <a:tc>
                  <a:txBody>
                    <a:bodyPr>
                      <a:noAutofit/>
                    </a:bodyPr>
                    <a:lstStyle/>
                    <a:p>
                      <a:r>
                        <a:rPr sz="1950" b="1">
                          <a:solidFill>
                            <a:srgbClr val="87B7FF"/>
                          </a:solidFill>
                          <a:latin typeface="Microsoft YaHei"/>
                          <a:ea typeface="Microsoft YaHei"/>
                          <a:cs typeface="Microsoft YaHei"/>
                        </a:rPr>
                        <a:t>Relationship to B1</a:t>
                      </a:r>
                    </a:p>
                  </a:txBody>
                  <a:tcPr marL="91440" marR="91440" marT="45720" marB="45720">
                    <a:solidFill>
                      <a:srgbClr val="233750"/>
                    </a:solidFill>
                  </a:tcPr>
                </a:tc>
                <a:tc>
                  <a:txBody>
                    <a:bodyPr>
                      <a:noAutofit/>
                    </a:bodyPr>
                    <a:lstStyle/>
                    <a:p>
                      <a:r>
                        <a:rPr sz="1950" b="1">
                          <a:solidFill>
                            <a:srgbClr val="87B7FF"/>
                          </a:solidFill>
                          <a:latin typeface="Microsoft YaHei"/>
                          <a:ea typeface="Microsoft YaHei"/>
                          <a:cs typeface="Microsoft YaHei"/>
                        </a:rPr>
                        <a:t>Justification QC view</a:t>
                      </a:r>
                    </a:p>
                  </a:txBody>
                  <a:tcPr marL="91440" marR="91440" marT="45720" marB="45720">
                    <a:solidFill>
                      <a:srgbClr val="233750"/>
                    </a:solidFill>
                  </a:tcPr>
                </a:tc>
                <a:tc>
                  <a:txBody>
                    <a:bodyPr>
                      <a:noAutofit/>
                    </a:bodyPr>
                    <a:lstStyle/>
                    <a:p>
                      <a:r>
                        <a:rPr sz="1950" b="1">
                          <a:solidFill>
                            <a:srgbClr val="87B7FF"/>
                          </a:solidFill>
                          <a:latin typeface="Microsoft YaHei"/>
                          <a:ea typeface="Microsoft YaHei"/>
                          <a:cs typeface="Microsoft YaHei"/>
                        </a:rPr>
                        <a:t>safeNode</a:t>
                      </a:r>
                    </a:p>
                  </a:txBody>
                  <a:tcPr marL="91440" marR="91440" marT="45720" marB="45720">
                    <a:solidFill>
                      <a:srgbClr val="233750"/>
                    </a:solidFill>
                  </a:tcPr>
                </a:tc>
              </a:tr>
              <a:tr h="711994">
                <a:tc>
                  <a:txBody>
                    <a:bodyPr>
                      <a:noAutofit/>
                    </a:bodyPr>
                    <a:lstStyle/>
                    <a:p>
                      <a:r>
                        <a:rPr sz="1950" b="0">
                          <a:solidFill>
                            <a:srgbClr val="E8EEF6"/>
                          </a:solidFill>
                          <a:latin typeface="Microsoft YaHei"/>
                          <a:ea typeface="Microsoft YaHei"/>
                          <a:cs typeface="Microsoft YaHei"/>
                        </a:rPr>
                        <a:t>Extends B1</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 1</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Accept</a:t>
                      </a:r>
                    </a:p>
                  </a:txBody>
                  <a:tcPr marL="91440" marR="91440" marT="45720" marB="45720">
                    <a:solidFill>
                      <a:srgbClr val="0D131D"/>
                    </a:solidFill>
                  </a:tcPr>
                </a:tc>
              </a:tr>
              <a:tr h="711994">
                <a:tc>
                  <a:txBody>
                    <a:bodyPr>
                      <a:noAutofit/>
                    </a:bodyPr>
                    <a:lstStyle/>
                    <a:p>
                      <a:r>
                        <a:rPr sz="1950" b="0">
                          <a:solidFill>
                            <a:srgbClr val="E8EEF6"/>
                          </a:solidFill>
                          <a:latin typeface="Microsoft YaHei"/>
                          <a:ea typeface="Microsoft YaHei"/>
                          <a:cs typeface="Microsoft YaHei"/>
                        </a:rPr>
                        <a:t>Conflicts with B1</a:t>
                      </a:r>
                    </a:p>
                  </a:txBody>
                  <a:tcPr marL="91440" marR="91440" marT="45720" marB="45720">
                    <a:solidFill>
                      <a:srgbClr val="172232"/>
                    </a:solidFill>
                  </a:tcPr>
                </a:tc>
                <a:tc>
                  <a:txBody>
                    <a:bodyPr>
                      <a:noAutofit/>
                    </a:bodyPr>
                    <a:lstStyle/>
                    <a:p>
                      <a:r>
                        <a:rPr sz="1950" b="0">
                          <a:solidFill>
                            <a:srgbClr val="E8EEF6"/>
                          </a:solidFill>
                          <a:latin typeface="Microsoft YaHei"/>
                          <a:ea typeface="Microsoft YaHei"/>
                          <a:cs typeface="Microsoft YaHei"/>
                        </a:rPr>
                        <a:t>≤ 1</a:t>
                      </a:r>
                    </a:p>
                  </a:txBody>
                  <a:tcPr marL="91440" marR="91440" marT="45720" marB="45720">
                    <a:solidFill>
                      <a:srgbClr val="172232"/>
                    </a:solidFill>
                  </a:tcPr>
                </a:tc>
                <a:tc>
                  <a:txBody>
                    <a:bodyPr>
                      <a:noAutofit/>
                    </a:bodyPr>
                    <a:lstStyle/>
                    <a:p>
                      <a:r>
                        <a:rPr sz="1950" b="0">
                          <a:solidFill>
                            <a:srgbClr val="E8EEF6"/>
                          </a:solidFill>
                          <a:latin typeface="Microsoft YaHei"/>
                          <a:ea typeface="Microsoft YaHei"/>
                          <a:cs typeface="Microsoft YaHei"/>
                        </a:rPr>
                        <a:t>Reject</a:t>
                      </a:r>
                    </a:p>
                  </a:txBody>
                  <a:tcPr marL="91440" marR="91440" marT="45720" marB="45720">
                    <a:solidFill>
                      <a:srgbClr val="172232"/>
                    </a:solidFill>
                  </a:tcPr>
                </a:tc>
              </a:tr>
              <a:tr h="711994">
                <a:tc>
                  <a:txBody>
                    <a:bodyPr>
                      <a:noAutofit/>
                    </a:bodyPr>
                    <a:lstStyle/>
                    <a:p>
                      <a:r>
                        <a:rPr sz="1950" b="0">
                          <a:solidFill>
                            <a:srgbClr val="E8EEF6"/>
                          </a:solidFill>
                          <a:latin typeface="Microsoft YaHei"/>
                          <a:ea typeface="Microsoft YaHei"/>
                          <a:cs typeface="Microsoft YaHei"/>
                        </a:rPr>
                        <a:t>Conflicts with B1</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2, with a valid QC</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Accept</a:t>
                      </a:r>
                    </a:p>
                  </a:txBody>
                  <a:tcPr marL="91440" marR="91440" marT="45720" marB="45720">
                    <a:solidFill>
                      <a:srgbClr val="0D131D"/>
                    </a:solidFill>
                  </a:tcPr>
                </a:tc>
              </a:tr>
            </a:tbl>
          </a:graphicData>
        </a:graphic>
      </p:graphicFrame>
      <p:sp>
        <p:nvSpPr>
          <p:cNvPr id="6" name="">
            <a:extLst xmlns:a="http://schemas.openxmlformats.org/drawingml/2006/main">
              <a:ext uri="{FF2B5EF4-FFF2-40B4-BE49-F238E27FC236}">
                <a16:creationId xmlns:a16="http://schemas.microsoft.com/office/drawing/2014/main" id="{DC84E923-4689-4A55-BC21-8DE1B26DA755}"/>
              </a:ext>
            </a:extLst>
          </p:cNvPr>
          <p:cNvSpPr>
            <a:spLocks xmlns:a="http://schemas.openxmlformats.org/drawingml/2006/main" noGrp="1"/>
          </p:cNvSpPr>
          <p:nvPr/>
        </p:nvSpPr>
        <p:spPr>
          <a:xfrm xmlns:a="http://schemas.openxmlformats.org/drawingml/2006/main">
            <a:off x="609600" y="5591175"/>
            <a:ext cx="1090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77DDB8"/>
                </a:solidFill>
                <a:latin typeface="Microsoft YaHei"/>
                <a:ea typeface="Microsoft YaHei"/>
                <a:cs typeface="Microsoft YaHei"/>
              </a:defRPr>
            </a:pPr>
            <a:r>
              <a:rPr sz="2100" b="0">
                <a:solidFill>
                  <a:srgbClr val="77DDB8"/>
                </a:solidFill>
                <a:latin typeface="Microsoft YaHei"/>
                <a:ea typeface="Microsoft YaHei"/>
                <a:cs typeface="Microsoft YaHei"/>
              </a:rPr>
              <a:t>Newer evidence can justify a branch change. The lock rejects unsupported switches.</a:t>
            </a:r>
          </a:p>
        </p:txBody>
      </p:sp>
    </p:spTree>
    <p:extLst>
      <p:ext uri="{BB962C8B-B14F-4D97-AF65-F5344CB8AC3E}">
        <p14:creationId xmlns:p14="http://schemas.microsoft.com/office/powerpoint/2010/main" val="1819858016"/>
      </p:ext>
    </p:extLst>
  </p:cSld>
</p:sld>
</file>

<file path=ppt/slides/slide13.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BABDF5-4B86-4B03-AC04-579D985B3951}"/>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Certification in Chained HotStuff</a:t>
            </a:r>
          </a:p>
        </p:txBody>
      </p:sp>
      <p:sp>
        <p:nvSpPr>
          <p:cNvPr id="2" name="">
            <a:extLst xmlns:a="http://schemas.openxmlformats.org/drawingml/2006/main">
              <a:ext uri="{FF2B5EF4-FFF2-40B4-BE49-F238E27FC236}">
                <a16:creationId xmlns:a16="http://schemas.microsoft.com/office/drawing/2014/main" id="{619B00AA-3415-49B2-998A-1DC73A51C341}"/>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1C70B565-5F5D-4A19-B5B9-BBC78BFC9124}"/>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13</a:t>
            </a:r>
          </a:p>
        </p:txBody>
      </p:sp>
      <p:graphicFrame>
        <p:nvGraphicFramePr>
          <p:cNvPr id="10" name=""/>
          <p:cNvGraphicFramePr/>
          <p:nvPr/>
        </p:nvGraphicFramePr>
        <p:xfrm>
          <a:off xmlns:a="http://schemas.openxmlformats.org/drawingml/2006/main" x="609600" y="1724025"/>
          <a:ext xmlns:a="http://schemas.openxmlformats.org/drawingml/2006/main" cx="10972800" cy="2857500"/>
        </p:xfrm>
        <a:graphic xmlns:a="http://schemas.openxmlformats.org/drawingml/2006/main">
          <a:graphicData uri="http://schemas.openxmlformats.org/drawingml/2006/table">
            <a:tbl>
              <a:tblPr/>
              <a:tblGrid>
                <a:gridCol w="2714625"/>
                <a:gridCol w="5334000"/>
                <a:gridCol w="2924175"/>
              </a:tblGrid>
              <a:tr h="714375">
                <a:tc>
                  <a:txBody>
                    <a:bodyPr>
                      <a:noAutofit/>
                    </a:bodyPr>
                    <a:lstStyle/>
                    <a:p>
                      <a:r>
                        <a:rPr sz="1950" b="1">
                          <a:solidFill>
                            <a:srgbClr val="87B7FF"/>
                          </a:solidFill>
                          <a:latin typeface="Microsoft YaHei"/>
                          <a:ea typeface="Microsoft YaHei"/>
                          <a:cs typeface="Microsoft YaHei"/>
                        </a:rPr>
                        <a:t>Evidence for B1</a:t>
                      </a:r>
                    </a:p>
                  </a:txBody>
                  <a:tcPr marL="91440" marR="91440" marT="45720" marB="45720">
                    <a:solidFill>
                      <a:srgbClr val="233750"/>
                    </a:solidFill>
                  </a:tcPr>
                </a:tc>
                <a:tc>
                  <a:txBody>
                    <a:bodyPr>
                      <a:noAutofit/>
                    </a:bodyPr>
                    <a:lstStyle/>
                    <a:p>
                      <a:r>
                        <a:rPr sz="1950" b="1">
                          <a:solidFill>
                            <a:srgbClr val="87B7FF"/>
                          </a:solidFill>
                          <a:latin typeface="Microsoft YaHei"/>
                          <a:ea typeface="Microsoft YaHei"/>
                          <a:cs typeface="Microsoft YaHei"/>
                        </a:rPr>
                        <a:t>Certification event in the demo</a:t>
                      </a:r>
                    </a:p>
                  </a:txBody>
                  <a:tcPr marL="91440" marR="91440" marT="45720" marB="45720">
                    <a:solidFill>
                      <a:srgbClr val="233750"/>
                    </a:solidFill>
                  </a:tcPr>
                </a:tc>
                <a:tc>
                  <a:txBody>
                    <a:bodyPr>
                      <a:noAutofit/>
                    </a:bodyPr>
                    <a:lstStyle/>
                    <a:p>
                      <a:r>
                        <a:rPr sz="1950" b="1">
                          <a:solidFill>
                            <a:srgbClr val="87B7FF"/>
                          </a:solidFill>
                          <a:latin typeface="Microsoft YaHei"/>
                          <a:ea typeface="Microsoft YaHei"/>
                          <a:cs typeface="Microsoft YaHei"/>
                        </a:rPr>
                        <a:t>B1 state</a:t>
                      </a:r>
                    </a:p>
                  </a:txBody>
                  <a:tcPr marL="91440" marR="91440" marT="45720" marB="45720">
                    <a:solidFill>
                      <a:srgbClr val="233750"/>
                    </a:solidFill>
                  </a:tcPr>
                </a:tc>
              </a:tr>
              <a:tr h="714375">
                <a:tc>
                  <a:txBody>
                    <a:bodyPr>
                      <a:noAutofit/>
                    </a:bodyPr>
                    <a:lstStyle/>
                    <a:p>
                      <a:r>
                        <a:rPr sz="1950" b="0">
                          <a:solidFill>
                            <a:srgbClr val="E8EEF6"/>
                          </a:solidFill>
                          <a:latin typeface="Microsoft YaHei"/>
                          <a:ea typeface="Microsoft YaHei"/>
                          <a:cs typeface="Microsoft YaHei"/>
                        </a:rPr>
                        <a:t>First certificate</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QC(B1)</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Certified</a:t>
                      </a:r>
                    </a:p>
                  </a:txBody>
                  <a:tcPr marL="91440" marR="91440" marT="45720" marB="45720">
                    <a:solidFill>
                      <a:srgbClr val="0D131D"/>
                    </a:solidFill>
                  </a:tcPr>
                </a:tc>
              </a:tr>
              <a:tr h="714375">
                <a:tc>
                  <a:txBody>
                    <a:bodyPr>
                      <a:noAutofit/>
                    </a:bodyPr>
                    <a:lstStyle/>
                    <a:p>
                      <a:r>
                        <a:rPr sz="1950" b="0">
                          <a:solidFill>
                            <a:srgbClr val="E8EEF6"/>
                          </a:solidFill>
                          <a:latin typeface="Microsoft YaHei"/>
                          <a:ea typeface="Microsoft YaHei"/>
                          <a:cs typeface="Microsoft YaHei"/>
                        </a:rPr>
                        <a:t>Successor support</a:t>
                      </a:r>
                    </a:p>
                  </a:txBody>
                  <a:tcPr marL="91440" marR="91440" marT="45720" marB="45720">
                    <a:solidFill>
                      <a:srgbClr val="172232"/>
                    </a:solidFill>
                  </a:tcPr>
                </a:tc>
                <a:tc>
                  <a:txBody>
                    <a:bodyPr>
                      <a:noAutofit/>
                    </a:bodyPr>
                    <a:lstStyle/>
                    <a:p>
                      <a:r>
                        <a:rPr sz="1950" b="0">
                          <a:solidFill>
                            <a:srgbClr val="E8EEF6"/>
                          </a:solidFill>
                          <a:latin typeface="Microsoft YaHei"/>
                          <a:ea typeface="Microsoft YaHei"/>
                          <a:cs typeface="Microsoft YaHei"/>
                        </a:rPr>
                        <a:t>QC(B2), with B1 as B2's parent</a:t>
                      </a:r>
                    </a:p>
                  </a:txBody>
                  <a:tcPr marL="91440" marR="91440" marT="45720" marB="45720">
                    <a:solidFill>
                      <a:srgbClr val="172232"/>
                    </a:solidFill>
                  </a:tcPr>
                </a:tc>
                <a:tc>
                  <a:txBody>
                    <a:bodyPr>
                      <a:noAutofit/>
                    </a:bodyPr>
                    <a:lstStyle/>
                    <a:p>
                      <a:r>
                        <a:rPr sz="1950" b="0">
                          <a:solidFill>
                            <a:srgbClr val="E8EEF6"/>
                          </a:solidFill>
                          <a:latin typeface="Microsoft YaHei"/>
                          <a:ea typeface="Microsoft YaHei"/>
                          <a:cs typeface="Microsoft YaHei"/>
                        </a:rPr>
                        <a:t>Lock basis</a:t>
                      </a:r>
                    </a:p>
                  </a:txBody>
                  <a:tcPr marL="91440" marR="91440" marT="45720" marB="45720">
                    <a:solidFill>
                      <a:srgbClr val="172232"/>
                    </a:solidFill>
                  </a:tcPr>
                </a:tc>
              </a:tr>
              <a:tr h="714375">
                <a:tc>
                  <a:txBody>
                    <a:bodyPr>
                      <a:noAutofit/>
                    </a:bodyPr>
                    <a:lstStyle/>
                    <a:p>
                      <a:r>
                        <a:rPr sz="1950" b="0">
                          <a:solidFill>
                            <a:srgbClr val="E8EEF6"/>
                          </a:solidFill>
                          <a:latin typeface="Microsoft YaHei"/>
                          <a:ea typeface="Microsoft YaHei"/>
                          <a:cs typeface="Microsoft YaHei"/>
                        </a:rPr>
                        <a:t>Further extension</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QC(B3), with linked B1, B2, B3</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Committed</a:t>
                      </a:r>
                    </a:p>
                  </a:txBody>
                  <a:tcPr marL="91440" marR="91440" marT="45720" marB="45720">
                    <a:solidFill>
                      <a:srgbClr val="0D131D"/>
                    </a:solidFill>
                  </a:tcPr>
                </a:tc>
              </a:tr>
            </a:tbl>
          </a:graphicData>
        </a:graphic>
      </p:graphicFrame>
      <p:sp>
        <p:nvSpPr>
          <p:cNvPr id="5" name="">
            <a:extLst xmlns:a="http://schemas.openxmlformats.org/drawingml/2006/main">
              <a:ext uri="{FF2B5EF4-FFF2-40B4-BE49-F238E27FC236}">
                <a16:creationId xmlns:a16="http://schemas.microsoft.com/office/drawing/2014/main" id="{373C6959-EB01-4AC3-938A-D78450E96493}"/>
              </a:ext>
            </a:extLst>
          </p:cNvPr>
          <p:cNvSpPr>
            <a:spLocks xmlns:a="http://schemas.openxmlformats.org/drawingml/2006/main" noGrp="1"/>
          </p:cNvSpPr>
          <p:nvPr/>
        </p:nvSpPr>
        <p:spPr>
          <a:xfrm xmlns:a="http://schemas.openxmlformats.org/drawingml/2006/main">
            <a:off x="609600" y="5010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77DDB8"/>
                </a:solidFill>
                <a:latin typeface="Microsoft YaHei"/>
                <a:ea typeface="Microsoft YaHei"/>
                <a:cs typeface="Microsoft YaHei"/>
              </a:defRPr>
            </a:pPr>
            <a:r>
              <a:rPr sz="2550" b="1">
                <a:solidFill>
                  <a:srgbClr val="77DDB8"/>
                </a:solidFill>
                <a:latin typeface="Microsoft YaHei"/>
                <a:ea typeface="Microsoft YaHei"/>
                <a:cs typeface="Microsoft YaHei"/>
              </a:rPr>
              <a:t>A successor advances itself and deepens the evidence for its ancestors.</a:t>
            </a:r>
          </a:p>
        </p:txBody>
      </p:sp>
      <p:sp>
        <p:nvSpPr>
          <p:cNvPr id="6" name="">
            <a:extLst xmlns:a="http://schemas.openxmlformats.org/drawingml/2006/main">
              <a:ext uri="{FF2B5EF4-FFF2-40B4-BE49-F238E27FC236}">
                <a16:creationId xmlns:a16="http://schemas.microsoft.com/office/drawing/2014/main" id="{B6FBD353-AD4F-4121-A3F4-AD03C07B91D7}"/>
              </a:ext>
            </a:extLst>
          </p:cNvPr>
          <p:cNvSpPr>
            <a:spLocks xmlns:a="http://schemas.openxmlformats.org/drawingml/2006/main" noGrp="1"/>
          </p:cNvSpPr>
          <p:nvPr/>
        </p:nvSpPr>
        <p:spPr>
          <a:xfrm xmlns:a="http://schemas.openxmlformats.org/drawingml/2006/main">
            <a:off x="609600" y="5829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A4B4C8"/>
                </a:solidFill>
                <a:latin typeface="Microsoft YaHei"/>
                <a:ea typeface="Microsoft YaHei"/>
                <a:cs typeface="Microsoft YaHei"/>
              </a:defRPr>
            </a:pPr>
            <a:r>
              <a:rPr sz="1800" b="0">
                <a:solidFill>
                  <a:srgbClr val="A4B4C8"/>
                </a:solidFill>
                <a:latin typeface="Microsoft YaHei"/>
                <a:ea typeface="Microsoft YaHei"/>
                <a:cs typeface="Microsoft YaHei"/>
              </a:rPr>
              <a:t>The demo updates state when it receives a QC.</a:t>
            </a:r>
          </a:p>
        </p:txBody>
      </p:sp>
    </p:spTree>
    <p:extLst>
      <p:ext uri="{BB962C8B-B14F-4D97-AF65-F5344CB8AC3E}">
        <p14:creationId xmlns:p14="http://schemas.microsoft.com/office/powerpoint/2010/main" val="1032123711"/>
      </p:ext>
    </p:extLst>
  </p:cSld>
</p:sld>
</file>

<file path=ppt/slides/slide14.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4BFDCD-E399-417D-8353-1EB23A38BF5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Demo 4: The Three-Chain Commit</a:t>
            </a:r>
          </a:p>
        </p:txBody>
      </p:sp>
      <p:sp>
        <p:nvSpPr>
          <p:cNvPr id="2" name="">
            <a:extLst xmlns:a="http://schemas.openxmlformats.org/drawingml/2006/main">
              <a:ext uri="{FF2B5EF4-FFF2-40B4-BE49-F238E27FC236}">
                <a16:creationId xmlns:a16="http://schemas.microsoft.com/office/drawing/2014/main" id="{C8EA81F1-1175-40EC-99E2-69AAEE80AD24}"/>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93BBF45C-E2CC-4994-A685-C9BAEFAC3403}"/>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14</a:t>
            </a:r>
          </a:p>
        </p:txBody>
      </p:sp>
      <p:sp>
        <p:nvSpPr>
          <p:cNvPr id="4" name="">
            <a:extLst xmlns:a="http://schemas.openxmlformats.org/drawingml/2006/main">
              <a:ext uri="{FF2B5EF4-FFF2-40B4-BE49-F238E27FC236}">
                <a16:creationId xmlns:a16="http://schemas.microsoft.com/office/drawing/2014/main" id="{2E2820AE-D4D0-4503-85C5-336FAC792601}"/>
              </a:ext>
            </a:extLst>
          </p:cNvPr>
          <p:cNvSpPr>
            <a:spLocks xmlns:a="http://schemas.openxmlformats.org/drawingml/2006/main" noGrp="1"/>
          </p:cNvSpPr>
          <p:nvPr/>
        </p:nvSpPr>
        <p:spPr>
          <a:xfrm xmlns:a="http://schemas.openxmlformats.org/drawingml/2006/main">
            <a:off x="609600" y="1200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87B7FF"/>
                </a:solidFill>
                <a:latin typeface="Microsoft YaHei"/>
                <a:ea typeface="Microsoft YaHei"/>
                <a:cs typeface="Microsoft YaHei"/>
              </a:defRPr>
            </a:pPr>
            <a:r>
              <a:rPr sz="1950" b="1">
                <a:solidFill>
                  <a:srgbClr val="87B7FF"/>
                </a:solidFill>
                <a:latin typeface="Microsoft YaHei"/>
                <a:ea typeface="Microsoft YaHei"/>
                <a:cs typeface="Microsoft YaHei"/>
              </a:rPr>
              <a:t>Continue to STEP 20. Observe the first new commit, B1.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cedd9d8c2bb4481"/>
          <a:srcRect xmlns:a="http://schemas.openxmlformats.org/drawingml/2006/main" l="0" t="0" r="0" b="0"/>
          <a:stretch xmlns:a="http://schemas.openxmlformats.org/drawingml/2006/main">
            <a:fillRect l="0" t="0" r="0" b="0"/>
          </a:stretch>
        </p:blipFill>
        <p:spPr>
          <a:xfrm xmlns:a="http://schemas.openxmlformats.org/drawingml/2006/main">
            <a:off x="609600" y="1782509"/>
            <a:ext cx="10972800" cy="42454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4D1D34C-9689-4090-A20D-16E8D31B1143}"/>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7DDB8"/>
                </a:solidFill>
                <a:latin typeface="Microsoft YaHei"/>
                <a:ea typeface="Microsoft YaHei"/>
                <a:cs typeface="Microsoft YaHei"/>
              </a:defRPr>
            </a:pPr>
            <a:r>
              <a:rPr sz="1575" b="0">
                <a:solidFill>
                  <a:srgbClr val="77DDB8"/>
                </a:solidFill>
                <a:latin typeface="Microsoft YaHei"/>
                <a:ea typeface="Microsoft YaHei"/>
                <a:cs typeface="Microsoft YaHei"/>
              </a:rPr>
              <a:t>HighQC = B3, LockedQC = B2, Commit block = B1.</a:t>
            </a:r>
          </a:p>
        </p:txBody>
      </p:sp>
    </p:spTree>
    <p:extLst>
      <p:ext uri="{BB962C8B-B14F-4D97-AF65-F5344CB8AC3E}">
        <p14:creationId xmlns:p14="http://schemas.microsoft.com/office/powerpoint/2010/main" val="219900601"/>
      </p:ext>
    </p:extLst>
  </p:cSld>
</p:sld>
</file>

<file path=ppt/slides/slide15.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A95EE3-367A-4515-AD9C-BC44A6CAA3F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Normal-Path Checkpoints</a:t>
            </a:r>
          </a:p>
        </p:txBody>
      </p:sp>
      <p:sp>
        <p:nvSpPr>
          <p:cNvPr id="2" name="">
            <a:extLst xmlns:a="http://schemas.openxmlformats.org/drawingml/2006/main">
              <a:ext uri="{FF2B5EF4-FFF2-40B4-BE49-F238E27FC236}">
                <a16:creationId xmlns:a16="http://schemas.microsoft.com/office/drawing/2014/main" id="{30A6E880-E160-4498-81AE-21DD931B21BC}"/>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AAF71A66-4847-42F6-A3DA-7804BB6450EB}"/>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15</a:t>
            </a:r>
          </a:p>
        </p:txBody>
      </p:sp>
      <p:graphicFrame>
        <p:nvGraphicFramePr>
          <p:cNvPr id="9" name=""/>
          <p:cNvGraphicFramePr/>
          <p:nvPr/>
        </p:nvGraphicFramePr>
        <p:xfrm>
          <a:off xmlns:a="http://schemas.openxmlformats.org/drawingml/2006/main" x="609600" y="1571625"/>
          <a:ext xmlns:a="http://schemas.openxmlformats.org/drawingml/2006/main" cx="10972800" cy="3943350"/>
        </p:xfrm>
        <a:graphic xmlns:a="http://schemas.openxmlformats.org/drawingml/2006/main">
          <a:graphicData uri="http://schemas.openxmlformats.org/drawingml/2006/table">
            <a:tbl>
              <a:tblPr/>
              <a:tblGrid>
                <a:gridCol w="1714500"/>
                <a:gridCol w="3000375"/>
                <a:gridCol w="2085975"/>
                <a:gridCol w="2085975"/>
                <a:gridCol w="2085975"/>
              </a:tblGrid>
              <a:tr h="563336">
                <a:tc>
                  <a:txBody>
                    <a:bodyPr>
                      <a:noAutofit/>
                    </a:bodyPr>
                    <a:lstStyle/>
                    <a:p>
                      <a:r>
                        <a:rPr sz="1875" b="1">
                          <a:solidFill>
                            <a:srgbClr val="87B7FF"/>
                          </a:solidFill>
                          <a:latin typeface="Microsoft YaHei"/>
                          <a:ea typeface="Microsoft YaHei"/>
                          <a:cs typeface="Microsoft YaHei"/>
                        </a:rPr>
                        <a:t>Total STEP</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Event</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HighQC</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LockedQC</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Commit</a:t>
                      </a:r>
                    </a:p>
                  </a:txBody>
                  <a:tcPr marL="91440" marR="91440" marT="45720" marB="45720">
                    <a:solidFill>
                      <a:srgbClr val="233750"/>
                    </a:solidFill>
                  </a:tcPr>
                </a:tc>
              </a:tr>
              <a:tr h="563336">
                <a:tc>
                  <a:txBody>
                    <a:bodyPr>
                      <a:noAutofit/>
                    </a:bodyPr>
                    <a:lstStyle/>
                    <a:p>
                      <a:r>
                        <a:rPr sz="1875" b="0">
                          <a:solidFill>
                            <a:srgbClr val="E8EEF6"/>
                          </a:solidFill>
                          <a:latin typeface="Microsoft YaHei"/>
                          <a:ea typeface="Microsoft YaHei"/>
                          <a:cs typeface="Microsoft YaHei"/>
                        </a:rPr>
                        <a:t>0</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Reset</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0D131D"/>
                    </a:solidFill>
                  </a:tcPr>
                </a:tc>
              </a:tr>
              <a:tr h="563336">
                <a:tc>
                  <a:txBody>
                    <a:bodyPr>
                      <a:noAutofit/>
                    </a:bodyPr>
                    <a:lstStyle/>
                    <a:p>
                      <a:r>
                        <a:rPr sz="1875" b="0">
                          <a:solidFill>
                            <a:srgbClr val="E8EEF6"/>
                          </a:solidFill>
                          <a:latin typeface="Microsoft YaHei"/>
                          <a:ea typeface="Microsoft YaHei"/>
                          <a:cs typeface="Microsoft YaHei"/>
                        </a:rPr>
                        <a:t>1</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Proposal B1</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172232"/>
                    </a:solidFill>
                  </a:tcPr>
                </a:tc>
              </a:tr>
              <a:tr h="563336">
                <a:tc>
                  <a:txBody>
                    <a:bodyPr>
                      <a:noAutofit/>
                    </a:bodyPr>
                    <a:lstStyle/>
                    <a:p>
                      <a:r>
                        <a:rPr sz="1875" b="0">
                          <a:solidFill>
                            <a:srgbClr val="E8EEF6"/>
                          </a:solidFill>
                          <a:latin typeface="Microsoft YaHei"/>
                          <a:ea typeface="Microsoft YaHei"/>
                          <a:cs typeface="Microsoft YaHei"/>
                        </a:rPr>
                        <a:t>6</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QC(B1)</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B1</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0D131D"/>
                    </a:solidFill>
                  </a:tcPr>
                </a:tc>
              </a:tr>
              <a:tr h="563336">
                <a:tc>
                  <a:txBody>
                    <a:bodyPr>
                      <a:noAutofit/>
                    </a:bodyPr>
                    <a:lstStyle/>
                    <a:p>
                      <a:r>
                        <a:rPr sz="1875" b="0">
                          <a:solidFill>
                            <a:srgbClr val="E8EEF6"/>
                          </a:solidFill>
                          <a:latin typeface="Microsoft YaHei"/>
                          <a:ea typeface="Microsoft YaHei"/>
                          <a:cs typeface="Microsoft YaHei"/>
                        </a:rPr>
                        <a:t>7</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Enter View 2</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B1</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172232"/>
                    </a:solidFill>
                  </a:tcPr>
                </a:tc>
              </a:tr>
              <a:tr h="563336">
                <a:tc>
                  <a:txBody>
                    <a:bodyPr>
                      <a:noAutofit/>
                    </a:bodyPr>
                    <a:lstStyle/>
                    <a:p>
                      <a:r>
                        <a:rPr sz="1875" b="0">
                          <a:solidFill>
                            <a:srgbClr val="E8EEF6"/>
                          </a:solidFill>
                          <a:latin typeface="Microsoft YaHei"/>
                          <a:ea typeface="Microsoft YaHei"/>
                          <a:cs typeface="Microsoft YaHei"/>
                        </a:rPr>
                        <a:t>13</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QC(B2)</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B2</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B1</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B0</a:t>
                      </a:r>
                    </a:p>
                  </a:txBody>
                  <a:tcPr marL="91440" marR="91440" marT="45720" marB="45720">
                    <a:solidFill>
                      <a:srgbClr val="0D131D"/>
                    </a:solidFill>
                  </a:tcPr>
                </a:tc>
              </a:tr>
              <a:tr h="563336">
                <a:tc>
                  <a:txBody>
                    <a:bodyPr>
                      <a:noAutofit/>
                    </a:bodyPr>
                    <a:lstStyle/>
                    <a:p>
                      <a:r>
                        <a:rPr sz="1875" b="0">
                          <a:solidFill>
                            <a:srgbClr val="E8EEF6"/>
                          </a:solidFill>
                          <a:latin typeface="Microsoft YaHei"/>
                          <a:ea typeface="Microsoft YaHei"/>
                          <a:cs typeface="Microsoft YaHei"/>
                        </a:rPr>
                        <a:t>20</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QC(B3)</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B3</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B2</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B1</a:t>
                      </a:r>
                    </a:p>
                  </a:txBody>
                  <a:tcPr marL="91440" marR="91440" marT="45720" marB="45720">
                    <a:solidFill>
                      <a:srgbClr val="172232"/>
                    </a:solidFill>
                  </a:tcPr>
                </a:tc>
              </a:tr>
            </a:tbl>
          </a:graphicData>
        </a:graphic>
      </p:graphicFrame>
      <p:sp>
        <p:nvSpPr>
          <p:cNvPr id="5" name="">
            <a:extLst xmlns:a="http://schemas.openxmlformats.org/drawingml/2006/main">
              <a:ext uri="{FF2B5EF4-FFF2-40B4-BE49-F238E27FC236}">
                <a16:creationId xmlns:a16="http://schemas.microsoft.com/office/drawing/2014/main" id="{99EC7083-74C0-46DC-BBE7-6D45ACCB7B80}"/>
              </a:ext>
            </a:extLst>
          </p:cNvPr>
          <p:cNvSpPr>
            <a:spLocks xmlns:a="http://schemas.openxmlformats.org/drawingml/2006/main" noGrp="1"/>
          </p:cNvSpPr>
          <p:nvPr/>
        </p:nvSpPr>
        <p:spPr>
          <a:xfrm xmlns:a="http://schemas.openxmlformats.org/drawingml/2006/main">
            <a:off x="609600" y="58102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77DDB8"/>
                </a:solidFill>
                <a:latin typeface="Microsoft YaHei"/>
                <a:ea typeface="Microsoft YaHei"/>
                <a:cs typeface="Microsoft YaHei"/>
              </a:defRPr>
            </a:pPr>
            <a:r>
              <a:rPr sz="2025" b="0">
                <a:solidFill>
                  <a:srgbClr val="77DDB8"/>
                </a:solidFill>
                <a:latin typeface="Microsoft YaHei"/>
                <a:ea typeface="Microsoft YaHei"/>
                <a:cs typeface="Microsoft YaHei"/>
              </a:rPr>
              <a:t>Seven steps per normal view. Next Step executes one queued event.</a:t>
            </a:r>
          </a:p>
        </p:txBody>
      </p:sp>
    </p:spTree>
    <p:extLst>
      <p:ext uri="{BB962C8B-B14F-4D97-AF65-F5344CB8AC3E}">
        <p14:creationId xmlns:p14="http://schemas.microsoft.com/office/powerpoint/2010/main" val="1393576134"/>
      </p:ext>
    </p:extLst>
  </p:cSld>
</p:sld>
</file>

<file path=ppt/slides/slide16.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0A5724-EDC2-4D80-9381-17882CB84088}"/>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Safety: Intersection, Locks and Commit Evidence</a:t>
            </a:r>
          </a:p>
        </p:txBody>
      </p:sp>
      <p:sp>
        <p:nvSpPr>
          <p:cNvPr id="2" name="">
            <a:extLst xmlns:a="http://schemas.openxmlformats.org/drawingml/2006/main">
              <a:ext uri="{FF2B5EF4-FFF2-40B4-BE49-F238E27FC236}">
                <a16:creationId xmlns:a16="http://schemas.microsoft.com/office/drawing/2014/main" id="{27BAC5B4-8A72-4025-AAB3-9F1A1EA61D87}"/>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CAB5590D-450B-49F6-AE8C-5DA59A50A34C}"/>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16</a:t>
            </a:r>
          </a:p>
        </p:txBody>
      </p:sp>
      <p:sp>
        <p:nvSpPr>
          <p:cNvPr id="4" name="">
            <a:extLst xmlns:a="http://schemas.openxmlformats.org/drawingml/2006/main">
              <a:ext uri="{FF2B5EF4-FFF2-40B4-BE49-F238E27FC236}">
                <a16:creationId xmlns:a16="http://schemas.microsoft.com/office/drawing/2014/main" id="{84D91D2D-7146-4379-876F-5C68210223A2}"/>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Within one view: correct replicas do not vote twice</a:t>
            </a:r>
          </a:p>
        </p:txBody>
      </p:sp>
      <p:sp>
        <p:nvSpPr>
          <p:cNvPr id="5" name="">
            <a:extLst xmlns:a="http://schemas.openxmlformats.org/drawingml/2006/main">
              <a:ext uri="{FF2B5EF4-FFF2-40B4-BE49-F238E27FC236}">
                <a16:creationId xmlns:a16="http://schemas.microsoft.com/office/drawing/2014/main" id="{05DE0D81-1021-4D5A-A62E-7388005296FC}"/>
              </a:ext>
            </a:extLst>
          </p:cNvPr>
          <p:cNvSpPr>
            <a:spLocks xmlns:a="http://schemas.openxmlformats.org/drawingml/2006/main" noGrp="1"/>
          </p:cNvSpPr>
          <p:nvPr/>
        </p:nvSpPr>
        <p:spPr>
          <a:xfrm xmlns:a="http://schemas.openxmlformats.org/drawingml/2006/main">
            <a:off x="609600" y="20383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Conflicting three-vote QCs would violate the one-vote rule.</a:t>
            </a:r>
          </a:p>
        </p:txBody>
      </p:sp>
      <p:sp>
        <p:nvSpPr>
          <p:cNvPr id="6" name="">
            <a:extLst xmlns:a="http://schemas.openxmlformats.org/drawingml/2006/main">
              <a:ext uri="{FF2B5EF4-FFF2-40B4-BE49-F238E27FC236}">
                <a16:creationId xmlns:a16="http://schemas.microsoft.com/office/drawing/2014/main" id="{98812778-62FD-4C00-BAA3-4DB2C4E08870}"/>
              </a:ext>
            </a:extLst>
          </p:cNvPr>
          <p:cNvSpPr>
            <a:spLocks xmlns:a="http://schemas.openxmlformats.org/drawingml/2006/main" noGrp="1"/>
          </p:cNvSpPr>
          <p:nvPr/>
        </p:nvSpPr>
        <p:spPr>
          <a:xfrm xmlns:a="http://schemas.openxmlformats.org/drawingml/2006/main">
            <a:off x="609600" y="2943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Across views: LockedQC constrains future votes</a:t>
            </a:r>
          </a:p>
        </p:txBody>
      </p:sp>
      <p:sp>
        <p:nvSpPr>
          <p:cNvPr id="7" name="">
            <a:extLst xmlns:a="http://schemas.openxmlformats.org/drawingml/2006/main">
              <a:ext uri="{FF2B5EF4-FFF2-40B4-BE49-F238E27FC236}">
                <a16:creationId xmlns:a16="http://schemas.microsoft.com/office/drawing/2014/main" id="{F606BC54-964A-46BA-869A-F2D70793284C}"/>
              </a:ext>
            </a:extLst>
          </p:cNvPr>
          <p:cNvSpPr>
            <a:spLocks xmlns:a="http://schemas.openxmlformats.org/drawingml/2006/main" noGrp="1"/>
          </p:cNvSpPr>
          <p:nvPr/>
        </p:nvSpPr>
        <p:spPr>
          <a:xfrm xmlns:a="http://schemas.openxmlformats.org/drawingml/2006/main">
            <a:off x="609600" y="33718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A leader change preserves the existing safety constraints.</a:t>
            </a:r>
          </a:p>
        </p:txBody>
      </p:sp>
      <p:sp>
        <p:nvSpPr>
          <p:cNvPr id="8" name="">
            <a:extLst xmlns:a="http://schemas.openxmlformats.org/drawingml/2006/main">
              <a:ext uri="{FF2B5EF4-FFF2-40B4-BE49-F238E27FC236}">
                <a16:creationId xmlns:a16="http://schemas.microsoft.com/office/drawing/2014/main" id="{3E85ECF5-7BFF-4B9E-81B6-F64CB9614EAA}"/>
              </a:ext>
            </a:extLst>
          </p:cNvPr>
          <p:cNvSpPr>
            <a:spLocks xmlns:a="http://schemas.openxmlformats.org/drawingml/2006/main" noGrp="1"/>
          </p:cNvSpPr>
          <p:nvPr/>
        </p:nvSpPr>
        <p:spPr>
          <a:xfrm xmlns:a="http://schemas.openxmlformats.org/drawingml/2006/main">
            <a:off x="609600" y="4276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Final decisions: successive certificates build evidence</a:t>
            </a:r>
          </a:p>
        </p:txBody>
      </p:sp>
      <p:sp>
        <p:nvSpPr>
          <p:cNvPr id="9" name="">
            <a:extLst xmlns:a="http://schemas.openxmlformats.org/drawingml/2006/main">
              <a:ext uri="{FF2B5EF4-FFF2-40B4-BE49-F238E27FC236}">
                <a16:creationId xmlns:a16="http://schemas.microsoft.com/office/drawing/2014/main" id="{F592D597-A237-4787-AFB3-A5F9946FFE45}"/>
              </a:ext>
            </a:extLst>
          </p:cNvPr>
          <p:cNvSpPr>
            <a:spLocks xmlns:a="http://schemas.openxmlformats.org/drawingml/2006/main" noGrp="1"/>
          </p:cNvSpPr>
          <p:nvPr/>
        </p:nvSpPr>
        <p:spPr>
          <a:xfrm xmlns:a="http://schemas.openxmlformats.org/drawingml/2006/main">
            <a:off x="609600" y="47053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A QC, a lock and a commit represent different levels of confirmation.</a:t>
            </a:r>
          </a:p>
        </p:txBody>
      </p:sp>
      <p:sp>
        <p:nvSpPr>
          <p:cNvPr id="10" name="">
            <a:extLst xmlns:a="http://schemas.openxmlformats.org/drawingml/2006/main">
              <a:ext uri="{FF2B5EF4-FFF2-40B4-BE49-F238E27FC236}">
                <a16:creationId xmlns:a16="http://schemas.microsoft.com/office/drawing/2014/main" id="{DB2A580E-1BFE-4876-A64C-436CDED4B1A9}"/>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A4B4C8"/>
                </a:solidFill>
                <a:latin typeface="Microsoft YaHei"/>
                <a:ea typeface="Microsoft YaHei"/>
                <a:cs typeface="Microsoft YaHei"/>
              </a:defRPr>
            </a:pPr>
            <a:r>
              <a:rPr sz="1725" b="0">
                <a:solidFill>
                  <a:srgbClr val="A4B4C8"/>
                </a:solidFill>
                <a:latin typeface="Microsoft YaHei"/>
                <a:ea typeface="Microsoft YaHei"/>
                <a:cs typeface="Microsoft YaHei"/>
              </a:rPr>
              <a:t>The demo illustrates state transitions. Full safety depends on the protocol assumptions.</a:t>
            </a:r>
          </a:p>
        </p:txBody>
      </p:sp>
    </p:spTree>
    <p:extLst>
      <p:ext uri="{BB962C8B-B14F-4D97-AF65-F5344CB8AC3E}">
        <p14:creationId xmlns:p14="http://schemas.microsoft.com/office/powerpoint/2010/main" val="1794772876"/>
      </p:ext>
    </p:extLst>
  </p:cSld>
</p:sld>
</file>

<file path=ppt/slides/slide17.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363339-BB8E-43EA-8732-49B079452CE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Timeout and the Pacemaker</a:t>
            </a:r>
          </a:p>
        </p:txBody>
      </p:sp>
      <p:sp>
        <p:nvSpPr>
          <p:cNvPr id="2" name="">
            <a:extLst xmlns:a="http://schemas.openxmlformats.org/drawingml/2006/main">
              <a:ext uri="{FF2B5EF4-FFF2-40B4-BE49-F238E27FC236}">
                <a16:creationId xmlns:a16="http://schemas.microsoft.com/office/drawing/2014/main" id="{6EA59EC9-7BDC-4B44-9C33-6C1EAAFC1EBD}"/>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8FBDC433-3751-42EC-A7A5-ADE8C5B005AA}"/>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17</a:t>
            </a:r>
          </a:p>
        </p:txBody>
      </p:sp>
      <p:sp>
        <p:nvSpPr>
          <p:cNvPr id="4" name="">
            <a:extLst xmlns:a="http://schemas.openxmlformats.org/drawingml/2006/main">
              <a:ext uri="{FF2B5EF4-FFF2-40B4-BE49-F238E27FC236}">
                <a16:creationId xmlns:a16="http://schemas.microsoft.com/office/drawing/2014/main" id="{1F6E3F59-175F-4F99-8C1F-AC3FD1F36A7E}"/>
              </a:ext>
            </a:extLst>
          </p:cNvPr>
          <p:cNvSpPr>
            <a:spLocks xmlns:a="http://schemas.openxmlformats.org/drawingml/2006/main" noGrp="1"/>
          </p:cNvSpPr>
          <p:nvPr/>
        </p:nvSpPr>
        <p:spPr>
          <a:xfrm xmlns:a="http://schemas.openxmlformats.org/drawingml/2006/main">
            <a:off x="609600" y="1543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Why a view stops making progress</a:t>
            </a:r>
          </a:p>
        </p:txBody>
      </p:sp>
      <p:sp>
        <p:nvSpPr>
          <p:cNvPr id="5" name="">
            <a:extLst xmlns:a="http://schemas.openxmlformats.org/drawingml/2006/main">
              <a:ext uri="{FF2B5EF4-FFF2-40B4-BE49-F238E27FC236}">
                <a16:creationId xmlns:a16="http://schemas.microsoft.com/office/drawing/2014/main" id="{98632ACE-FD49-4CBD-8ECF-236BC251FCBD}"/>
              </a:ext>
            </a:extLst>
          </p:cNvPr>
          <p:cNvSpPr>
            <a:spLocks xmlns:a="http://schemas.openxmlformats.org/drawingml/2006/main" noGrp="1"/>
          </p:cNvSpPr>
          <p:nvPr/>
        </p:nvSpPr>
        <p:spPr>
          <a:xfrm xmlns:a="http://schemas.openxmlformats.org/drawingml/2006/main">
            <a:off x="609600" y="1971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The leader sends no proposal, fewer than three votes arrive, or no QC is broadcast.</a:t>
            </a:r>
          </a:p>
        </p:txBody>
      </p:sp>
      <p:sp>
        <p:nvSpPr>
          <p:cNvPr id="6" name="">
            <a:extLst xmlns:a="http://schemas.openxmlformats.org/drawingml/2006/main">
              <a:ext uri="{FF2B5EF4-FFF2-40B4-BE49-F238E27FC236}">
                <a16:creationId xmlns:a16="http://schemas.microsoft.com/office/drawing/2014/main" id="{2405D98F-2EFB-447F-A11B-589B4AD22A2D}"/>
              </a:ext>
            </a:extLst>
          </p:cNvPr>
          <p:cNvSpPr>
            <a:spLocks xmlns:a="http://schemas.openxmlformats.org/drawingml/2006/main" noGrp="1"/>
          </p:cNvSpPr>
          <p:nvPr/>
        </p:nvSpPr>
        <p:spPr>
          <a:xfrm xmlns:a="http://schemas.openxmlformats.org/drawingml/2006/main">
            <a:off x="609600" y="2895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How the demo advances</a:t>
            </a:r>
          </a:p>
        </p:txBody>
      </p:sp>
      <p:sp>
        <p:nvSpPr>
          <p:cNvPr id="7" name="">
            <a:extLst xmlns:a="http://schemas.openxmlformats.org/drawingml/2006/main">
              <a:ext uri="{FF2B5EF4-FFF2-40B4-BE49-F238E27FC236}">
                <a16:creationId xmlns:a16="http://schemas.microsoft.com/office/drawing/2014/main" id="{641BB873-C5D8-4F6C-AD5F-FE928300D48E}"/>
              </a:ext>
            </a:extLst>
          </p:cNvPr>
          <p:cNvSpPr>
            <a:spLocks xmlns:a="http://schemas.openxmlformats.org/drawingml/2006/main" noGrp="1"/>
          </p:cNvSpPr>
          <p:nvPr/>
        </p:nvSpPr>
        <p:spPr>
          <a:xfrm xmlns:a="http://schemas.openxmlformats.org/drawingml/2006/main">
            <a:off x="609600" y="33242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After the timeout, enter the next view and rotate the leader.</a:t>
            </a:r>
          </a:p>
        </p:txBody>
      </p:sp>
      <p:sp>
        <p:nvSpPr>
          <p:cNvPr id="8" name="">
            <a:extLst xmlns:a="http://schemas.openxmlformats.org/drawingml/2006/main">
              <a:ext uri="{FF2B5EF4-FFF2-40B4-BE49-F238E27FC236}">
                <a16:creationId xmlns:a16="http://schemas.microsoft.com/office/drawing/2014/main" id="{C50EA114-0E0C-4D50-8FBE-E6D35F55DA08}"/>
              </a:ext>
            </a:extLst>
          </p:cNvPr>
          <p:cNvSpPr>
            <a:spLocks xmlns:a="http://schemas.openxmlformats.org/drawingml/2006/main" noGrp="1"/>
          </p:cNvSpPr>
          <p:nvPr/>
        </p:nvSpPr>
        <p:spPr>
          <a:xfrm xmlns:a="http://schemas.openxmlformats.org/drawingml/2006/main">
            <a:off x="609600" y="4248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What survives the view change</a:t>
            </a:r>
          </a:p>
        </p:txBody>
      </p:sp>
      <p:sp>
        <p:nvSpPr>
          <p:cNvPr id="9" name="">
            <a:extLst xmlns:a="http://schemas.openxmlformats.org/drawingml/2006/main">
              <a:ext uri="{FF2B5EF4-FFF2-40B4-BE49-F238E27FC236}">
                <a16:creationId xmlns:a16="http://schemas.microsoft.com/office/drawing/2014/main" id="{92CBA0E7-69F1-4C6C-ADAB-2620B4650C16}"/>
              </a:ext>
            </a:extLst>
          </p:cNvPr>
          <p:cNvSpPr>
            <a:spLocks xmlns:a="http://schemas.openxmlformats.org/drawingml/2006/main" noGrp="1"/>
          </p:cNvSpPr>
          <p:nvPr/>
        </p:nvSpPr>
        <p:spPr>
          <a:xfrm xmlns:a="http://schemas.openxmlformats.org/drawingml/2006/main">
            <a:off x="609600" y="46767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Replicas retain HighQC and LockedQC. The new leader continues from known evidence.</a:t>
            </a:r>
          </a:p>
        </p:txBody>
      </p:sp>
      <p:sp>
        <p:nvSpPr>
          <p:cNvPr id="10" name="">
            <a:extLst xmlns:a="http://schemas.openxmlformats.org/drawingml/2006/main">
              <a:ext uri="{FF2B5EF4-FFF2-40B4-BE49-F238E27FC236}">
                <a16:creationId xmlns:a16="http://schemas.microsoft.com/office/drawing/2014/main" id="{90BAFDD4-6571-492D-9C85-DF4B89DA7C2F}"/>
              </a:ext>
            </a:extLst>
          </p:cNvPr>
          <p:cNvSpPr>
            <a:spLocks xmlns:a="http://schemas.openxmlformats.org/drawingml/2006/main" noGrp="1"/>
          </p:cNvSpPr>
          <p:nvPr/>
        </p:nvSpPr>
        <p:spPr>
          <a:xfrm xmlns:a="http://schemas.openxmlformats.org/drawingml/2006/main">
            <a:off x="609600" y="58197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B187"/>
                </a:solidFill>
                <a:latin typeface="Microsoft YaHei"/>
                <a:ea typeface="Microsoft YaHei"/>
                <a:cs typeface="Microsoft YaHei"/>
              </a:defRPr>
            </a:pPr>
            <a:r>
              <a:rPr sz="1950" b="0">
                <a:solidFill>
                  <a:srgbClr val="FFB187"/>
                </a:solidFill>
                <a:latin typeface="Microsoft YaHei"/>
                <a:ea typeface="Microsoft YaHei"/>
                <a:cs typeface="Microsoft YaHei"/>
              </a:rPr>
              <a:t>Demo timeout: three logical ticks. Pause freezes both execution and timeout.</a:t>
            </a:r>
          </a:p>
        </p:txBody>
      </p:sp>
    </p:spTree>
    <p:extLst>
      <p:ext uri="{BB962C8B-B14F-4D97-AF65-F5344CB8AC3E}">
        <p14:creationId xmlns:p14="http://schemas.microsoft.com/office/powerpoint/2010/main" val="2130145323"/>
      </p:ext>
    </p:extLst>
  </p:cSld>
</p:sld>
</file>

<file path=ppt/slides/slide18.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285717-7E25-46CD-AEC0-3250A52397F3}"/>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Demo 5: Progress After a Leader Crash</a:t>
            </a:r>
          </a:p>
        </p:txBody>
      </p:sp>
      <p:sp>
        <p:nvSpPr>
          <p:cNvPr id="2" name="">
            <a:extLst xmlns:a="http://schemas.openxmlformats.org/drawingml/2006/main">
              <a:ext uri="{FF2B5EF4-FFF2-40B4-BE49-F238E27FC236}">
                <a16:creationId xmlns:a16="http://schemas.microsoft.com/office/drawing/2014/main" id="{660E2F89-BDEB-43CA-917A-7848E0B3BD4F}"/>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CC938974-05F1-4A48-A237-4A129EC438D4}"/>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18</a:t>
            </a:r>
          </a:p>
        </p:txBody>
      </p:sp>
      <p:sp>
        <p:nvSpPr>
          <p:cNvPr id="4" name="">
            <a:extLst xmlns:a="http://schemas.openxmlformats.org/drawingml/2006/main">
              <a:ext uri="{FF2B5EF4-FFF2-40B4-BE49-F238E27FC236}">
                <a16:creationId xmlns:a16="http://schemas.microsoft.com/office/drawing/2014/main" id="{99D98183-97E2-4E5C-BA83-054D26F67DAA}"/>
              </a:ext>
            </a:extLst>
          </p:cNvPr>
          <p:cNvSpPr>
            <a:spLocks xmlns:a="http://schemas.openxmlformats.org/drawingml/2006/main" noGrp="1"/>
          </p:cNvSpPr>
          <p:nvPr/>
        </p:nvSpPr>
        <p:spPr>
          <a:xfrm xmlns:a="http://schemas.openxmlformats.org/drawingml/2006/main">
            <a:off x="609600" y="1200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87B7FF"/>
                </a:solidFill>
                <a:latin typeface="Microsoft YaHei"/>
                <a:ea typeface="Microsoft YaHei"/>
                <a:cs typeface="Microsoft YaHei"/>
              </a:defRPr>
            </a:pPr>
            <a:r>
              <a:rPr sz="1950" b="1">
                <a:solidFill>
                  <a:srgbClr val="87B7FF"/>
                </a:solidFill>
                <a:latin typeface="Microsoft YaHei"/>
                <a:ea typeface="Microsoft YaHei"/>
                <a:cs typeface="Microsoft YaHei"/>
              </a:rPr>
              <a:t>Click Reset, then Crash Leader. Advance to STEP 11.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08248530c2e467b"/>
          <a:srcRect xmlns:a="http://schemas.openxmlformats.org/drawingml/2006/main" l="0" t="0" r="0" b="0"/>
          <a:stretch xmlns:a="http://schemas.openxmlformats.org/drawingml/2006/main">
            <a:fillRect l="0" t="0" r="0" b="0"/>
          </a:stretch>
        </p:blipFill>
        <p:spPr>
          <a:xfrm xmlns:a="http://schemas.openxmlformats.org/drawingml/2006/main">
            <a:off x="609600" y="1782509"/>
            <a:ext cx="10972800" cy="42454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C09938D-9C0E-415F-8BC3-7F2E7D84E06A}"/>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7DDB8"/>
                </a:solidFill>
                <a:latin typeface="Microsoft YaHei"/>
                <a:ea typeface="Microsoft YaHei"/>
                <a:cs typeface="Microsoft YaHei"/>
              </a:defRPr>
            </a:pPr>
            <a:r>
              <a:rPr sz="1575" b="0">
                <a:solidFill>
                  <a:srgbClr val="77DDB8"/>
                </a:solidFill>
                <a:latin typeface="Microsoft YaHei"/>
                <a:ea typeface="Microsoft YaHei"/>
                <a:cs typeface="Microsoft YaHei"/>
              </a:rPr>
              <a:t>N1 stays in View 1. Live nodes enter View 2, where N2 forms QC(B1).</a:t>
            </a:r>
          </a:p>
        </p:txBody>
      </p:sp>
    </p:spTree>
    <p:extLst>
      <p:ext uri="{BB962C8B-B14F-4D97-AF65-F5344CB8AC3E}">
        <p14:creationId xmlns:p14="http://schemas.microsoft.com/office/powerpoint/2010/main" val="1166910370"/>
      </p:ext>
    </p:extLst>
  </p:cSld>
</p:sld>
</file>

<file path=ppt/slides/slide19.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A730D7-0DE2-40EA-B64F-10FA903A9A4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Demo 6: One Replica Withholds Its Vote</a:t>
            </a:r>
          </a:p>
        </p:txBody>
      </p:sp>
      <p:sp>
        <p:nvSpPr>
          <p:cNvPr id="2" name="">
            <a:extLst xmlns:a="http://schemas.openxmlformats.org/drawingml/2006/main">
              <a:ext uri="{FF2B5EF4-FFF2-40B4-BE49-F238E27FC236}">
                <a16:creationId xmlns:a16="http://schemas.microsoft.com/office/drawing/2014/main" id="{7FA1E230-2C94-4CE8-BD61-19CEEE8866C9}"/>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5051ADEE-33E8-4290-A5FA-11F391944C6D}"/>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19</a:t>
            </a:r>
          </a:p>
        </p:txBody>
      </p:sp>
      <p:sp>
        <p:nvSpPr>
          <p:cNvPr id="4" name="">
            <a:extLst xmlns:a="http://schemas.openxmlformats.org/drawingml/2006/main">
              <a:ext uri="{FF2B5EF4-FFF2-40B4-BE49-F238E27FC236}">
                <a16:creationId xmlns:a16="http://schemas.microsoft.com/office/drawing/2014/main" id="{D12C2197-FD89-4D0B-A9FB-A4B5F023E56E}"/>
              </a:ext>
            </a:extLst>
          </p:cNvPr>
          <p:cNvSpPr>
            <a:spLocks xmlns:a="http://schemas.openxmlformats.org/drawingml/2006/main" noGrp="1"/>
          </p:cNvSpPr>
          <p:nvPr/>
        </p:nvSpPr>
        <p:spPr>
          <a:xfrm xmlns:a="http://schemas.openxmlformats.org/drawingml/2006/main">
            <a:off x="609600" y="1200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87B7FF"/>
                </a:solidFill>
                <a:latin typeface="Microsoft YaHei"/>
                <a:ea typeface="Microsoft YaHei"/>
                <a:cs typeface="Microsoft YaHei"/>
              </a:defRPr>
            </a:pPr>
            <a:r>
              <a:rPr sz="1950" b="1">
                <a:solidFill>
                  <a:srgbClr val="87B7FF"/>
                </a:solidFill>
                <a:latin typeface="Microsoft YaHei"/>
                <a:ea typeface="Microsoft YaHei"/>
                <a:cs typeface="Microsoft YaHei"/>
              </a:rPr>
              <a:t>Reset, select Node 4 withholds votes, then advance to STEP 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62efe35a53c4aa1"/>
          <a:srcRect xmlns:a="http://schemas.openxmlformats.org/drawingml/2006/main" l="0" t="0" r="0" b="0"/>
          <a:stretch xmlns:a="http://schemas.openxmlformats.org/drawingml/2006/main">
            <a:fillRect l="0" t="0" r="0" b="0"/>
          </a:stretch>
        </p:blipFill>
        <p:spPr>
          <a:xfrm xmlns:a="http://schemas.openxmlformats.org/drawingml/2006/main">
            <a:off x="609600" y="1782509"/>
            <a:ext cx="10972800" cy="42454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68D875-639E-42F6-B34D-0BABD8F8250F}"/>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7DDB8"/>
                </a:solidFill>
                <a:latin typeface="Microsoft YaHei"/>
                <a:ea typeface="Microsoft YaHei"/>
                <a:cs typeface="Microsoft YaHei"/>
              </a:defRPr>
            </a:pPr>
            <a:r>
              <a:rPr sz="1575" b="0">
                <a:solidFill>
                  <a:srgbClr val="77DDB8"/>
                </a:solidFill>
                <a:latin typeface="Microsoft YaHei"/>
                <a:ea typeface="Microsoft YaHei"/>
                <a:cs typeface="Microsoft YaHei"/>
              </a:rPr>
              <a:t>QC(B1) has voters N1, N2 and N3, exactly meeting the three-vote threshold.</a:t>
            </a:r>
          </a:p>
        </p:txBody>
      </p:sp>
    </p:spTree>
    <p:extLst>
      <p:ext uri="{BB962C8B-B14F-4D97-AF65-F5344CB8AC3E}">
        <p14:creationId xmlns:p14="http://schemas.microsoft.com/office/powerpoint/2010/main" val="403127878"/>
      </p:ext>
    </p:extLst>
  </p:cSld>
</p:sld>
</file>

<file path=ppt/slides/slide20.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7DECF2-5554-4D35-9DBD-BABC608BA1E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The Fault-Tolerance Boundary</a:t>
            </a:r>
          </a:p>
        </p:txBody>
      </p:sp>
      <p:sp>
        <p:nvSpPr>
          <p:cNvPr id="2" name="">
            <a:extLst xmlns:a="http://schemas.openxmlformats.org/drawingml/2006/main">
              <a:ext uri="{FF2B5EF4-FFF2-40B4-BE49-F238E27FC236}">
                <a16:creationId xmlns:a16="http://schemas.microsoft.com/office/drawing/2014/main" id="{7731C7AB-EB06-4AF0-A168-AEC774C33D15}"/>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C0C248B3-C297-4247-AA5F-5B9EA09A62AE}"/>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20</a:t>
            </a:r>
          </a:p>
        </p:txBody>
      </p:sp>
      <p:graphicFrame>
        <p:nvGraphicFramePr>
          <p:cNvPr id="9" name=""/>
          <p:cNvGraphicFramePr/>
          <p:nvPr/>
        </p:nvGraphicFramePr>
        <p:xfrm>
          <a:off xmlns:a="http://schemas.openxmlformats.org/drawingml/2006/main" x="609600" y="1733550"/>
          <a:ext xmlns:a="http://schemas.openxmlformats.org/drawingml/2006/main" cx="10972800" cy="2876550"/>
        </p:xfrm>
        <a:graphic xmlns:a="http://schemas.openxmlformats.org/drawingml/2006/main">
          <a:graphicData uri="http://schemas.openxmlformats.org/drawingml/2006/table">
            <a:tbl>
              <a:tblPr/>
              <a:tblGrid>
                <a:gridCol w="5334000"/>
                <a:gridCol w="2190750"/>
                <a:gridCol w="3448050"/>
              </a:tblGrid>
              <a:tr h="719138">
                <a:tc>
                  <a:txBody>
                    <a:bodyPr>
                      <a:noAutofit/>
                    </a:bodyPr>
                    <a:lstStyle/>
                    <a:p>
                      <a:r>
                        <a:rPr sz="1950" b="1">
                          <a:solidFill>
                            <a:srgbClr val="87B7FF"/>
                          </a:solidFill>
                          <a:latin typeface="Microsoft YaHei"/>
                          <a:ea typeface="Microsoft YaHei"/>
                          <a:cs typeface="Microsoft YaHei"/>
                        </a:rPr>
                        <a:t>Scenario</a:t>
                      </a:r>
                    </a:p>
                  </a:txBody>
                  <a:tcPr marL="91440" marR="91440" marT="45720" marB="45720">
                    <a:solidFill>
                      <a:srgbClr val="233750"/>
                    </a:solidFill>
                  </a:tcPr>
                </a:tc>
                <a:tc>
                  <a:txBody>
                    <a:bodyPr>
                      <a:noAutofit/>
                    </a:bodyPr>
                    <a:lstStyle/>
                    <a:p>
                      <a:r>
                        <a:rPr sz="1950" b="1">
                          <a:solidFill>
                            <a:srgbClr val="87B7FF"/>
                          </a:solidFill>
                          <a:latin typeface="Microsoft YaHei"/>
                          <a:ea typeface="Microsoft YaHei"/>
                          <a:cs typeface="Microsoft YaHei"/>
                        </a:rPr>
                        <a:t>Available votes</a:t>
                      </a:r>
                    </a:p>
                  </a:txBody>
                  <a:tcPr marL="91440" marR="91440" marT="45720" marB="45720">
                    <a:solidFill>
                      <a:srgbClr val="233750"/>
                    </a:solidFill>
                  </a:tcPr>
                </a:tc>
                <a:tc>
                  <a:txBody>
                    <a:bodyPr>
                      <a:noAutofit/>
                    </a:bodyPr>
                    <a:lstStyle/>
                    <a:p>
                      <a:r>
                        <a:rPr sz="1950" b="1">
                          <a:solidFill>
                            <a:srgbClr val="87B7FF"/>
                          </a:solidFill>
                          <a:latin typeface="Microsoft YaHei"/>
                          <a:ea typeface="Microsoft YaHei"/>
                          <a:cs typeface="Microsoft YaHei"/>
                        </a:rPr>
                        <a:t>Outcome</a:t>
                      </a:r>
                    </a:p>
                  </a:txBody>
                  <a:tcPr marL="91440" marR="91440" marT="45720" marB="45720">
                    <a:solidFill>
                      <a:srgbClr val="233750"/>
                    </a:solidFill>
                  </a:tcPr>
                </a:tc>
              </a:tr>
              <a:tr h="719138">
                <a:tc>
                  <a:txBody>
                    <a:bodyPr>
                      <a:noAutofit/>
                    </a:bodyPr>
                    <a:lstStyle/>
                    <a:p>
                      <a:r>
                        <a:rPr sz="1950" b="0">
                          <a:solidFill>
                            <a:srgbClr val="E8EEF6"/>
                          </a:solidFill>
                          <a:latin typeface="Microsoft YaHei"/>
                          <a:ea typeface="Microsoft YaHei"/>
                          <a:cs typeface="Microsoft YaHei"/>
                        </a:rPr>
                        <a:t>All replicas normal</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4</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QC forms</a:t>
                      </a:r>
                    </a:p>
                  </a:txBody>
                  <a:tcPr marL="91440" marR="91440" marT="45720" marB="45720">
                    <a:solidFill>
                      <a:srgbClr val="0D131D"/>
                    </a:solidFill>
                  </a:tcPr>
                </a:tc>
              </a:tr>
              <a:tr h="719138">
                <a:tc>
                  <a:txBody>
                    <a:bodyPr>
                      <a:noAutofit/>
                    </a:bodyPr>
                    <a:lstStyle/>
                    <a:p>
                      <a:r>
                        <a:rPr sz="1950" b="0">
                          <a:solidFill>
                            <a:srgbClr val="E8EEF6"/>
                          </a:solidFill>
                          <a:latin typeface="Microsoft YaHei"/>
                          <a:ea typeface="Microsoft YaHei"/>
                          <a:cs typeface="Microsoft YaHei"/>
                        </a:rPr>
                        <a:t>One replica withholds votes</a:t>
                      </a:r>
                    </a:p>
                  </a:txBody>
                  <a:tcPr marL="91440" marR="91440" marT="45720" marB="45720">
                    <a:solidFill>
                      <a:srgbClr val="172232"/>
                    </a:solidFill>
                  </a:tcPr>
                </a:tc>
                <a:tc>
                  <a:txBody>
                    <a:bodyPr>
                      <a:noAutofit/>
                    </a:bodyPr>
                    <a:lstStyle/>
                    <a:p>
                      <a:r>
                        <a:rPr sz="1950" b="0">
                          <a:solidFill>
                            <a:srgbClr val="E8EEF6"/>
                          </a:solidFill>
                          <a:latin typeface="Microsoft YaHei"/>
                          <a:ea typeface="Microsoft YaHei"/>
                          <a:cs typeface="Microsoft YaHei"/>
                        </a:rPr>
                        <a:t>3</a:t>
                      </a:r>
                    </a:p>
                  </a:txBody>
                  <a:tcPr marL="91440" marR="91440" marT="45720" marB="45720">
                    <a:solidFill>
                      <a:srgbClr val="172232"/>
                    </a:solidFill>
                  </a:tcPr>
                </a:tc>
                <a:tc>
                  <a:txBody>
                    <a:bodyPr>
                      <a:noAutofit/>
                    </a:bodyPr>
                    <a:lstStyle/>
                    <a:p>
                      <a:r>
                        <a:rPr sz="1950" b="0">
                          <a:solidFill>
                            <a:srgbClr val="E8EEF6"/>
                          </a:solidFill>
                          <a:latin typeface="Microsoft YaHei"/>
                          <a:ea typeface="Microsoft YaHei"/>
                          <a:cs typeface="Microsoft YaHei"/>
                        </a:rPr>
                        <a:t>QC still forms</a:t>
                      </a:r>
                    </a:p>
                  </a:txBody>
                  <a:tcPr marL="91440" marR="91440" marT="45720" marB="45720">
                    <a:solidFill>
                      <a:srgbClr val="172232"/>
                    </a:solidFill>
                  </a:tcPr>
                </a:tc>
              </a:tr>
              <a:tr h="719138">
                <a:tc>
                  <a:txBody>
                    <a:bodyPr>
                      <a:noAutofit/>
                    </a:bodyPr>
                    <a:lstStyle/>
                    <a:p>
                      <a:r>
                        <a:rPr sz="1950" b="0">
                          <a:solidFill>
                            <a:srgbClr val="E8EEF6"/>
                          </a:solidFill>
                          <a:latin typeface="Microsoft YaHei"/>
                          <a:ea typeface="Microsoft YaHei"/>
                          <a:cs typeface="Microsoft YaHei"/>
                        </a:rPr>
                        <a:t>One crash plus another withheld vote</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2</a:t>
                      </a:r>
                    </a:p>
                  </a:txBody>
                  <a:tcPr marL="91440" marR="91440" marT="45720" marB="45720">
                    <a:solidFill>
                      <a:srgbClr val="0D131D"/>
                    </a:solidFill>
                  </a:tcPr>
                </a:tc>
                <a:tc>
                  <a:txBody>
                    <a:bodyPr>
                      <a:noAutofit/>
                    </a:bodyPr>
                    <a:lstStyle/>
                    <a:p>
                      <a:r>
                        <a:rPr sz="1950" b="0">
                          <a:solidFill>
                            <a:srgbClr val="E8EEF6"/>
                          </a:solidFill>
                          <a:latin typeface="Microsoft YaHei"/>
                          <a:ea typeface="Microsoft YaHei"/>
                          <a:cs typeface="Microsoft YaHei"/>
                        </a:rPr>
                        <a:t>No QC, repeated timeouts</a:t>
                      </a:r>
                    </a:p>
                  </a:txBody>
                  <a:tcPr marL="91440" marR="91440" marT="45720" marB="45720">
                    <a:solidFill>
                      <a:srgbClr val="0D131D"/>
                    </a:solidFill>
                  </a:tcPr>
                </a:tc>
              </a:tr>
            </a:tbl>
          </a:graphicData>
        </a:graphic>
      </p:graphicFrame>
      <p:sp>
        <p:nvSpPr>
          <p:cNvPr id="5" name="">
            <a:extLst xmlns:a="http://schemas.openxmlformats.org/drawingml/2006/main">
              <a:ext uri="{FF2B5EF4-FFF2-40B4-BE49-F238E27FC236}">
                <a16:creationId xmlns:a16="http://schemas.microsoft.com/office/drawing/2014/main" id="{2966E550-30B7-4F7A-A35C-B6A56FD2980D}"/>
              </a:ext>
            </a:extLst>
          </p:cNvPr>
          <p:cNvSpPr>
            <a:spLocks xmlns:a="http://schemas.openxmlformats.org/drawingml/2006/main" noGrp="1"/>
          </p:cNvSpPr>
          <p:nvPr/>
        </p:nvSpPr>
        <p:spPr>
          <a:xfrm xmlns:a="http://schemas.openxmlformats.org/drawingml/2006/main">
            <a:off x="609600" y="5038725"/>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77DDB8"/>
                </a:solidFill>
                <a:latin typeface="Microsoft YaHei"/>
                <a:ea typeface="Microsoft YaHei"/>
                <a:cs typeface="Microsoft YaHei"/>
              </a:defRPr>
            </a:pPr>
            <a:r>
              <a:rPr sz="2400" b="1">
                <a:solidFill>
                  <a:srgbClr val="77DDB8"/>
                </a:solidFill>
                <a:latin typeface="Microsoft YaHei"/>
                <a:ea typeface="Microsoft YaHei"/>
                <a:cs typeface="Microsoft YaHei"/>
              </a:rPr>
              <a:t>Failures do not lower the quorum. Insufficient evidence means waiting.</a:t>
            </a:r>
          </a:p>
        </p:txBody>
      </p:sp>
    </p:spTree>
    <p:extLst>
      <p:ext uri="{BB962C8B-B14F-4D97-AF65-F5344CB8AC3E}">
        <p14:creationId xmlns:p14="http://schemas.microsoft.com/office/powerpoint/2010/main" val="1101732663"/>
      </p:ext>
    </p:extLst>
  </p:cSld>
</p:sld>
</file>

<file path=ppt/slides/slide21.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75B531-AFC1-489C-95FD-8FF6CB098248}"/>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Linear Communication and Responsiveness</a:t>
            </a:r>
          </a:p>
        </p:txBody>
      </p:sp>
      <p:sp>
        <p:nvSpPr>
          <p:cNvPr id="2" name="">
            <a:extLst xmlns:a="http://schemas.openxmlformats.org/drawingml/2006/main">
              <a:ext uri="{FF2B5EF4-FFF2-40B4-BE49-F238E27FC236}">
                <a16:creationId xmlns:a16="http://schemas.microsoft.com/office/drawing/2014/main" id="{78A9DF4B-A100-46F8-819A-51E6F27F9CD9}"/>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3267960A-6FF7-4B32-B4ED-2D2E5577FF4A}"/>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21</a:t>
            </a:r>
          </a:p>
        </p:txBody>
      </p:sp>
      <p:sp>
        <p:nvSpPr>
          <p:cNvPr id="4" name="">
            <a:extLst xmlns:a="http://schemas.openxmlformats.org/drawingml/2006/main">
              <a:ext uri="{FF2B5EF4-FFF2-40B4-BE49-F238E27FC236}">
                <a16:creationId xmlns:a16="http://schemas.microsoft.com/office/drawing/2014/main" id="{B0291B6B-2C7D-4626-9800-88603567D1CD}"/>
              </a:ext>
            </a:extLst>
          </p:cNvPr>
          <p:cNvSpPr>
            <a:spLocks xmlns:a="http://schemas.openxmlformats.org/drawingml/2006/main" noGrp="1"/>
          </p:cNvSpPr>
          <p:nvPr/>
        </p:nvSpPr>
        <p:spPr>
          <a:xfrm xmlns:a="http://schemas.openxmlformats.org/drawingml/2006/main">
            <a:off x="609600" y="1619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Linear communication: a leader collects votes into a QC</a:t>
            </a:r>
          </a:p>
        </p:txBody>
      </p:sp>
      <p:sp>
        <p:nvSpPr>
          <p:cNvPr id="5" name="">
            <a:extLst xmlns:a="http://schemas.openxmlformats.org/drawingml/2006/main">
              <a:ext uri="{FF2B5EF4-FFF2-40B4-BE49-F238E27FC236}">
                <a16:creationId xmlns:a16="http://schemas.microsoft.com/office/drawing/2014/main" id="{4E355B79-3F70-45FF-8E52-EDDA003C86E2}"/>
              </a:ext>
            </a:extLst>
          </p:cNvPr>
          <p:cNvSpPr>
            <a:spLocks xmlns:a="http://schemas.openxmlformats.org/drawingml/2006/main" noGrp="1"/>
          </p:cNvSpPr>
          <p:nvPr/>
        </p:nvSpPr>
        <p:spPr>
          <a:xfrm xmlns:a="http://schemas.openxmlformats.org/drawingml/2006/main">
            <a:off x="609600" y="20478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Compact threshold signatures enable O(n) authenticator communication.</a:t>
            </a:r>
          </a:p>
        </p:txBody>
      </p:sp>
      <p:sp>
        <p:nvSpPr>
          <p:cNvPr id="6" name="">
            <a:extLst xmlns:a="http://schemas.openxmlformats.org/drawingml/2006/main">
              <a:ext uri="{FF2B5EF4-FFF2-40B4-BE49-F238E27FC236}">
                <a16:creationId xmlns:a16="http://schemas.microsoft.com/office/drawing/2014/main" id="{C6203143-F638-49DB-BD69-51302B0D8187}"/>
              </a:ext>
            </a:extLst>
          </p:cNvPr>
          <p:cNvSpPr>
            <a:spLocks xmlns:a="http://schemas.openxmlformats.org/drawingml/2006/main" noGrp="1"/>
          </p:cNvSpPr>
          <p:nvPr/>
        </p:nvSpPr>
        <p:spPr>
          <a:xfrm xmlns:a="http://schemas.openxmlformats.org/drawingml/2006/main">
            <a:off x="609600" y="30289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Optimistic responsiveness: progress follows actual responses</a:t>
            </a:r>
          </a:p>
        </p:txBody>
      </p:sp>
      <p:sp>
        <p:nvSpPr>
          <p:cNvPr id="7" name="">
            <a:extLst xmlns:a="http://schemas.openxmlformats.org/drawingml/2006/main">
              <a:ext uri="{FF2B5EF4-FFF2-40B4-BE49-F238E27FC236}">
                <a16:creationId xmlns:a16="http://schemas.microsoft.com/office/drawing/2014/main" id="{7274B5A1-E035-4600-AD64-3C538A949526}"/>
              </a:ext>
            </a:extLst>
          </p:cNvPr>
          <p:cNvSpPr>
            <a:spLocks xmlns:a="http://schemas.openxmlformats.org/drawingml/2006/main" noGrp="1"/>
          </p:cNvSpPr>
          <p:nvPr/>
        </p:nvSpPr>
        <p:spPr>
          <a:xfrm xmlns:a="http://schemas.openxmlformats.org/drawingml/2006/main">
            <a:off x="609600" y="3457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After stabilization, a correct leader advances at the pace of sufficient replies.</a:t>
            </a:r>
          </a:p>
        </p:txBody>
      </p:sp>
      <p:sp>
        <p:nvSpPr>
          <p:cNvPr id="8" name="">
            <a:extLst xmlns:a="http://schemas.openxmlformats.org/drawingml/2006/main">
              <a:ext uri="{FF2B5EF4-FFF2-40B4-BE49-F238E27FC236}">
                <a16:creationId xmlns:a16="http://schemas.microsoft.com/office/drawing/2014/main" id="{3629FC19-6F75-4CB4-A8B7-BF202E21AAE1}"/>
              </a:ext>
            </a:extLst>
          </p:cNvPr>
          <p:cNvSpPr>
            <a:spLocks xmlns:a="http://schemas.openxmlformats.org/drawingml/2006/main" noGrp="1"/>
          </p:cNvSpPr>
          <p:nvPr/>
        </p:nvSpPr>
        <p:spPr>
          <a:xfrm xmlns:a="http://schemas.openxmlformats.org/drawingml/2006/main">
            <a:off x="609600" y="4438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What this demo does not measure</a:t>
            </a:r>
          </a:p>
        </p:txBody>
      </p:sp>
      <p:sp>
        <p:nvSpPr>
          <p:cNvPr id="9" name="">
            <a:extLst xmlns:a="http://schemas.openxmlformats.org/drawingml/2006/main">
              <a:ext uri="{FF2B5EF4-FFF2-40B4-BE49-F238E27FC236}">
                <a16:creationId xmlns:a16="http://schemas.microsoft.com/office/drawing/2014/main" id="{0B2454FF-875C-4357-B12C-3B9DBE4396AD}"/>
              </a:ext>
            </a:extLst>
          </p:cNvPr>
          <p:cNvSpPr>
            <a:spLocks xmlns:a="http://schemas.openxmlformats.org/drawingml/2006/main" noGrp="1"/>
          </p:cNvSpPr>
          <p:nvPr/>
        </p:nvSpPr>
        <p:spPr>
          <a:xfrm xmlns:a="http://schemas.openxmlformats.org/drawingml/2006/main">
            <a:off x="609600" y="48672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Node ID lists, a central queue and 0.8-second playback do not establish performance.</a:t>
            </a:r>
          </a:p>
        </p:txBody>
      </p:sp>
    </p:spTree>
    <p:extLst>
      <p:ext uri="{BB962C8B-B14F-4D97-AF65-F5344CB8AC3E}">
        <p14:creationId xmlns:p14="http://schemas.microsoft.com/office/powerpoint/2010/main" val="291060881"/>
      </p:ext>
    </p:extLst>
  </p:cSld>
</p:sld>
</file>

<file path=ppt/slides/slide22.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B953DE-0F30-4589-B407-78C8FC8398F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The Demo's Simplifications</a:t>
            </a:r>
          </a:p>
        </p:txBody>
      </p:sp>
      <p:sp>
        <p:nvSpPr>
          <p:cNvPr id="2" name="">
            <a:extLst xmlns:a="http://schemas.openxmlformats.org/drawingml/2006/main">
              <a:ext uri="{FF2B5EF4-FFF2-40B4-BE49-F238E27FC236}">
                <a16:creationId xmlns:a16="http://schemas.microsoft.com/office/drawing/2014/main" id="{0B251103-4984-415B-9AC0-66303EDCBD51}"/>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3F2928B8-7A96-4C88-809A-05035CCABAE8}"/>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22</a:t>
            </a:r>
          </a:p>
        </p:txBody>
      </p:sp>
      <p:graphicFrame>
        <p:nvGraphicFramePr>
          <p:cNvPr id="8" name=""/>
          <p:cNvGraphicFramePr/>
          <p:nvPr/>
        </p:nvGraphicFramePr>
        <p:xfrm>
          <a:off xmlns:a="http://schemas.openxmlformats.org/drawingml/2006/main" x="609600" y="1590675"/>
          <a:ext xmlns:a="http://schemas.openxmlformats.org/drawingml/2006/main" cx="10972800" cy="4143375"/>
        </p:xfrm>
        <a:graphic xmlns:a="http://schemas.openxmlformats.org/drawingml/2006/main">
          <a:graphicData uri="http://schemas.openxmlformats.org/drawingml/2006/table">
            <a:tbl>
              <a:tblPr/>
              <a:tblGrid>
                <a:gridCol w="1809750"/>
                <a:gridCol w="4419600"/>
                <a:gridCol w="4743450"/>
              </a:tblGrid>
              <a:tr h="591911">
                <a:tc>
                  <a:txBody>
                    <a:bodyPr>
                      <a:noAutofit/>
                    </a:bodyPr>
                    <a:lstStyle/>
                    <a:p>
                      <a:r>
                        <a:rPr sz="1875" b="1">
                          <a:solidFill>
                            <a:srgbClr val="87B7FF"/>
                          </a:solidFill>
                          <a:latin typeface="Microsoft YaHei"/>
                          <a:ea typeface="Microsoft YaHei"/>
                          <a:cs typeface="Microsoft YaHei"/>
                        </a:rPr>
                        <a:t>Aspect</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Classroom implementation</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Scope limit</a:t>
                      </a:r>
                    </a:p>
                  </a:txBody>
                  <a:tcPr marL="91440" marR="91440" marT="45720" marB="45720">
                    <a:solidFill>
                      <a:srgbClr val="233750"/>
                    </a:solidFill>
                  </a:tcPr>
                </a:tc>
              </a:tr>
              <a:tr h="591911">
                <a:tc>
                  <a:txBody>
                    <a:bodyPr>
                      <a:noAutofit/>
                    </a:bodyPr>
                    <a:lstStyle/>
                    <a:p>
                      <a:r>
                        <a:rPr sz="1875" b="0">
                          <a:solidFill>
                            <a:srgbClr val="E8EEF6"/>
                          </a:solidFill>
                          <a:latin typeface="Microsoft YaHei"/>
                          <a:ea typeface="Microsoft YaHei"/>
                          <a:cs typeface="Microsoft YaHei"/>
                        </a:rPr>
                        <a:t>Signatures</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List of voter node IDs</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No real signature verification</a:t>
                      </a:r>
                    </a:p>
                  </a:txBody>
                  <a:tcPr marL="91440" marR="91440" marT="45720" marB="45720">
                    <a:solidFill>
                      <a:srgbClr val="0D131D"/>
                    </a:solidFill>
                  </a:tcPr>
                </a:tc>
              </a:tr>
              <a:tr h="591911">
                <a:tc>
                  <a:txBody>
                    <a:bodyPr>
                      <a:noAutofit/>
                    </a:bodyPr>
                    <a:lstStyle/>
                    <a:p>
                      <a:r>
                        <a:rPr sz="1875" b="0">
                          <a:solidFill>
                            <a:srgbClr val="E8EEF6"/>
                          </a:solidFill>
                          <a:latin typeface="Microsoft YaHei"/>
                          <a:ea typeface="Microsoft YaHei"/>
                          <a:cs typeface="Microsoft YaHei"/>
                        </a:rPr>
                        <a:t>View change</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Read live replicas' HighQCs</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Simplified NEW-VIEW exchange</a:t>
                      </a:r>
                    </a:p>
                  </a:txBody>
                  <a:tcPr marL="91440" marR="91440" marT="45720" marB="45720">
                    <a:solidFill>
                      <a:srgbClr val="172232"/>
                    </a:solidFill>
                  </a:tcPr>
                </a:tc>
              </a:tr>
              <a:tr h="591911">
                <a:tc>
                  <a:txBody>
                    <a:bodyPr>
                      <a:noAutofit/>
                    </a:bodyPr>
                    <a:lstStyle/>
                    <a:p>
                      <a:r>
                        <a:rPr sz="1875" b="0">
                          <a:solidFill>
                            <a:srgbClr val="E8EEF6"/>
                          </a:solidFill>
                          <a:latin typeface="Microsoft YaHei"/>
                          <a:ea typeface="Microsoft YaHei"/>
                          <a:cs typeface="Microsoft YaHei"/>
                        </a:rPr>
                        <a:t>Timing</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Central queue and logical ticks</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No independent node clocks</a:t>
                      </a:r>
                    </a:p>
                  </a:txBody>
                  <a:tcPr marL="91440" marR="91440" marT="45720" marB="45720">
                    <a:solidFill>
                      <a:srgbClr val="0D131D"/>
                    </a:solidFill>
                  </a:tcPr>
                </a:tc>
              </a:tr>
              <a:tr h="591911">
                <a:tc>
                  <a:txBody>
                    <a:bodyPr>
                      <a:noAutofit/>
                    </a:bodyPr>
                    <a:lstStyle/>
                    <a:p>
                      <a:r>
                        <a:rPr sz="1875" b="0">
                          <a:solidFill>
                            <a:srgbClr val="E8EEF6"/>
                          </a:solidFill>
                          <a:latin typeface="Microsoft YaHei"/>
                          <a:ea typeface="Microsoft YaHei"/>
                          <a:cs typeface="Microsoft YaHei"/>
                        </a:rPr>
                        <a:t>Commit</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Check consecutive three-chain on QC</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Conservative teaching rule</a:t>
                      </a:r>
                    </a:p>
                  </a:txBody>
                  <a:tcPr marL="91440" marR="91440" marT="45720" marB="45720">
                    <a:solidFill>
                      <a:srgbClr val="172232"/>
                    </a:solidFill>
                  </a:tcPr>
                </a:tc>
              </a:tr>
              <a:tr h="591911">
                <a:tc>
                  <a:txBody>
                    <a:bodyPr>
                      <a:noAutofit/>
                    </a:bodyPr>
                    <a:lstStyle/>
                    <a:p>
                      <a:r>
                        <a:rPr sz="1875" b="0">
                          <a:solidFill>
                            <a:srgbClr val="E8EEF6"/>
                          </a:solidFill>
                          <a:latin typeface="Microsoft YaHei"/>
                          <a:ea typeface="Microsoft YaHei"/>
                          <a:cs typeface="Microsoft YaHei"/>
                        </a:rPr>
                        <a:t>Faults</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Crashes and withheld votes</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No malicious forks or double votes</a:t>
                      </a:r>
                    </a:p>
                  </a:txBody>
                  <a:tcPr marL="91440" marR="91440" marT="45720" marB="45720">
                    <a:solidFill>
                      <a:srgbClr val="0D131D"/>
                    </a:solidFill>
                  </a:tcPr>
                </a:tc>
              </a:tr>
              <a:tr h="591911">
                <a:tc>
                  <a:txBody>
                    <a:bodyPr>
                      <a:noAutofit/>
                    </a:bodyPr>
                    <a:lstStyle/>
                    <a:p>
                      <a:r>
                        <a:rPr sz="1875" b="0">
                          <a:solidFill>
                            <a:srgbClr val="E8EEF6"/>
                          </a:solidFill>
                          <a:latin typeface="Microsoft YaHei"/>
                          <a:ea typeface="Microsoft YaHei"/>
                          <a:cs typeface="Microsoft YaHei"/>
                        </a:rPr>
                        <a:t>Recovery</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Copy state from a trusted peer</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No state-sync proof</a:t>
                      </a:r>
                    </a:p>
                  </a:txBody>
                  <a:tcPr marL="91440" marR="91440" marT="45720" marB="45720">
                    <a:solidFill>
                      <a:srgbClr val="172232"/>
                    </a:solidFill>
                  </a:tcPr>
                </a:tc>
              </a:tr>
            </a:tbl>
          </a:graphicData>
        </a:graphic>
      </p:graphicFrame>
    </p:spTree>
    <p:extLst>
      <p:ext uri="{BB962C8B-B14F-4D97-AF65-F5344CB8AC3E}">
        <p14:creationId xmlns:p14="http://schemas.microsoft.com/office/powerpoint/2010/main" val="2003681358"/>
      </p:ext>
    </p:extLst>
  </p:cSld>
</p:sld>
</file>

<file path=ppt/slides/slide23.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D40FC8-FB4E-4CB7-8443-F7A3E63D60B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Live Demo Cue Sheet</a:t>
            </a:r>
          </a:p>
        </p:txBody>
      </p:sp>
      <p:sp>
        <p:nvSpPr>
          <p:cNvPr id="2" name="">
            <a:extLst xmlns:a="http://schemas.openxmlformats.org/drawingml/2006/main">
              <a:ext uri="{FF2B5EF4-FFF2-40B4-BE49-F238E27FC236}">
                <a16:creationId xmlns:a16="http://schemas.microsoft.com/office/drawing/2014/main" id="{7D7EB921-DADD-4CBA-A44F-97117C252ED9}"/>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048C07B1-9AF1-4E08-B6A4-AF7831A837D4}"/>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23</a:t>
            </a:r>
          </a:p>
        </p:txBody>
      </p:sp>
      <p:graphicFrame>
        <p:nvGraphicFramePr>
          <p:cNvPr id="10" name=""/>
          <p:cNvGraphicFramePr/>
          <p:nvPr/>
        </p:nvGraphicFramePr>
        <p:xfrm>
          <a:off xmlns:a="http://schemas.openxmlformats.org/drawingml/2006/main" x="609600" y="1781175"/>
          <a:ext xmlns:a="http://schemas.openxmlformats.org/drawingml/2006/main" cx="10972800" cy="2752725"/>
        </p:xfrm>
        <a:graphic xmlns:a="http://schemas.openxmlformats.org/drawingml/2006/main">
          <a:graphicData uri="http://schemas.openxmlformats.org/drawingml/2006/table">
            <a:tbl>
              <a:tblPr/>
              <a:tblGrid>
                <a:gridCol w="2095500"/>
                <a:gridCol w="5429250"/>
                <a:gridCol w="3448050"/>
              </a:tblGrid>
              <a:tr h="688181">
                <a:tc>
                  <a:txBody>
                    <a:bodyPr>
                      <a:noAutofit/>
                    </a:bodyPr>
                    <a:lstStyle/>
                    <a:p>
                      <a:r>
                        <a:rPr sz="1875" b="1">
                          <a:solidFill>
                            <a:srgbClr val="87B7FF"/>
                          </a:solidFill>
                          <a:latin typeface="Microsoft YaHei"/>
                          <a:ea typeface="Microsoft YaHei"/>
                          <a:cs typeface="Microsoft YaHei"/>
                        </a:rPr>
                        <a:t>Scenario</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Actions and checkpoints</a:t>
                      </a:r>
                    </a:p>
                  </a:txBody>
                  <a:tcPr marL="91440" marR="91440" marT="45720" marB="45720">
                    <a:solidFill>
                      <a:srgbClr val="233750"/>
                    </a:solidFill>
                  </a:tcPr>
                </a:tc>
                <a:tc>
                  <a:txBody>
                    <a:bodyPr>
                      <a:noAutofit/>
                    </a:bodyPr>
                    <a:lstStyle/>
                    <a:p>
                      <a:r>
                        <a:rPr sz="1875" b="1">
                          <a:solidFill>
                            <a:srgbClr val="87B7FF"/>
                          </a:solidFill>
                          <a:latin typeface="Microsoft YaHei"/>
                          <a:ea typeface="Microsoft YaHei"/>
                          <a:cs typeface="Microsoft YaHei"/>
                        </a:rPr>
                        <a:t>Teaching focus</a:t>
                      </a:r>
                    </a:p>
                  </a:txBody>
                  <a:tcPr marL="91440" marR="91440" marT="45720" marB="45720">
                    <a:solidFill>
                      <a:srgbClr val="233750"/>
                    </a:solidFill>
                  </a:tcPr>
                </a:tc>
              </a:tr>
              <a:tr h="688181">
                <a:tc>
                  <a:txBody>
                    <a:bodyPr>
                      <a:noAutofit/>
                    </a:bodyPr>
                    <a:lstStyle/>
                    <a:p>
                      <a:r>
                        <a:rPr sz="1875" b="0">
                          <a:solidFill>
                            <a:srgbClr val="E8EEF6"/>
                          </a:solidFill>
                          <a:latin typeface="Microsoft YaHei"/>
                          <a:ea typeface="Microsoft YaHei"/>
                          <a:cs typeface="Microsoft YaHei"/>
                        </a:rPr>
                        <a:t>Normal path</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Reset. STEP 1 / 6 / 13 / 20</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Proposal, QC, lock, commit</a:t>
                      </a:r>
                    </a:p>
                  </a:txBody>
                  <a:tcPr marL="91440" marR="91440" marT="45720" marB="45720">
                    <a:solidFill>
                      <a:srgbClr val="0D131D"/>
                    </a:solidFill>
                  </a:tcPr>
                </a:tc>
              </a:tr>
              <a:tr h="688181">
                <a:tc>
                  <a:txBody>
                    <a:bodyPr>
                      <a:noAutofit/>
                    </a:bodyPr>
                    <a:lstStyle/>
                    <a:p>
                      <a:r>
                        <a:rPr sz="1875" b="0">
                          <a:solidFill>
                            <a:srgbClr val="E8EEF6"/>
                          </a:solidFill>
                          <a:latin typeface="Microsoft YaHei"/>
                          <a:ea typeface="Microsoft YaHei"/>
                          <a:cs typeface="Microsoft YaHei"/>
                        </a:rPr>
                        <a:t>Leader crash</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Reset. Crash Leader. STEP 5 / 11</a:t>
                      </a:r>
                    </a:p>
                  </a:txBody>
                  <a:tcPr marL="91440" marR="91440" marT="45720" marB="45720">
                    <a:solidFill>
                      <a:srgbClr val="172232"/>
                    </a:solidFill>
                  </a:tcPr>
                </a:tc>
                <a:tc>
                  <a:txBody>
                    <a:bodyPr>
                      <a:noAutofit/>
                    </a:bodyPr>
                    <a:lstStyle/>
                    <a:p>
                      <a:r>
                        <a:rPr sz="1875" b="0">
                          <a:solidFill>
                            <a:srgbClr val="E8EEF6"/>
                          </a:solidFill>
                          <a:latin typeface="Microsoft YaHei"/>
                          <a:ea typeface="Microsoft YaHei"/>
                          <a:cs typeface="Microsoft YaHei"/>
                        </a:rPr>
                        <a:t>Timeout and view change</a:t>
                      </a:r>
                    </a:p>
                  </a:txBody>
                  <a:tcPr marL="91440" marR="91440" marT="45720" marB="45720">
                    <a:solidFill>
                      <a:srgbClr val="172232"/>
                    </a:solidFill>
                  </a:tcPr>
                </a:tc>
              </a:tr>
              <a:tr h="688181">
                <a:tc>
                  <a:txBody>
                    <a:bodyPr>
                      <a:noAutofit/>
                    </a:bodyPr>
                    <a:lstStyle/>
                    <a:p>
                      <a:r>
                        <a:rPr sz="1875" b="0">
                          <a:solidFill>
                            <a:srgbClr val="E8EEF6"/>
                          </a:solidFill>
                          <a:latin typeface="Microsoft YaHei"/>
                          <a:ea typeface="Microsoft YaHei"/>
                          <a:cs typeface="Microsoft YaHei"/>
                        </a:rPr>
                        <a:t>Withheld vote</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Reset. N4 withholds votes. STEP 6</a:t>
                      </a:r>
                    </a:p>
                  </a:txBody>
                  <a:tcPr marL="91440" marR="91440" marT="45720" marB="45720">
                    <a:solidFill>
                      <a:srgbClr val="0D131D"/>
                    </a:solidFill>
                  </a:tcPr>
                </a:tc>
                <a:tc>
                  <a:txBody>
                    <a:bodyPr>
                      <a:noAutofit/>
                    </a:bodyPr>
                    <a:lstStyle/>
                    <a:p>
                      <a:r>
                        <a:rPr sz="1875" b="0">
                          <a:solidFill>
                            <a:srgbClr val="E8EEF6"/>
                          </a:solidFill>
                          <a:latin typeface="Microsoft YaHei"/>
                          <a:ea typeface="Microsoft YaHei"/>
                          <a:cs typeface="Microsoft YaHei"/>
                        </a:rPr>
                        <a:t>f = 1, quorum = 3</a:t>
                      </a:r>
                    </a:p>
                  </a:txBody>
                  <a:tcPr marL="91440" marR="91440" marT="45720" marB="45720">
                    <a:solidFill>
                      <a:srgbClr val="0D131D"/>
                    </a:solidFill>
                  </a:tcPr>
                </a:tc>
              </a:tr>
            </a:tbl>
          </a:graphicData>
        </a:graphic>
      </p:graphicFrame>
      <p:sp>
        <p:nvSpPr>
          <p:cNvPr id="5" name="">
            <a:extLst xmlns:a="http://schemas.openxmlformats.org/drawingml/2006/main">
              <a:ext uri="{FF2B5EF4-FFF2-40B4-BE49-F238E27FC236}">
                <a16:creationId xmlns:a16="http://schemas.microsoft.com/office/drawing/2014/main" id="{E8FC4C84-E9EA-421D-8EF5-B28E738B0082}"/>
              </a:ext>
            </a:extLst>
          </p:cNvPr>
          <p:cNvSpPr>
            <a:spLocks xmlns:a="http://schemas.openxmlformats.org/drawingml/2006/main" noGrp="1"/>
          </p:cNvSpPr>
          <p:nvPr/>
        </p:nvSpPr>
        <p:spPr>
          <a:xfrm xmlns:a="http://schemas.openxmlformats.org/drawingml/2006/main">
            <a:off x="609600" y="4981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87B7FF"/>
                </a:solidFill>
                <a:latin typeface="Microsoft YaHei"/>
                <a:ea typeface="Microsoft YaHei"/>
                <a:cs typeface="Microsoft YaHei"/>
              </a:defRPr>
            </a:pPr>
            <a:r>
              <a:rPr sz="2850" b="1">
                <a:solidFill>
                  <a:srgbClr val="87B7FF"/>
                </a:solidFill>
                <a:latin typeface="Microsoft YaHei"/>
                <a:ea typeface="Microsoft YaHei"/>
                <a:cs typeface="Microsoft YaHei"/>
              </a:rPr>
              <a:t>http://localhost:8000</a:t>
            </a:r>
          </a:p>
        </p:txBody>
      </p:sp>
      <p:sp>
        <p:nvSpPr>
          <p:cNvPr id="6" name="">
            <a:extLst xmlns:a="http://schemas.openxmlformats.org/drawingml/2006/main">
              <a:ext uri="{FF2B5EF4-FFF2-40B4-BE49-F238E27FC236}">
                <a16:creationId xmlns:a16="http://schemas.microsoft.com/office/drawing/2014/main" id="{1639818C-2B9C-4617-ABD3-4107E36C25AB}"/>
              </a:ext>
            </a:extLst>
          </p:cNvPr>
          <p:cNvSpPr>
            <a:spLocks xmlns:a="http://schemas.openxmlformats.org/drawingml/2006/main" noGrp="1"/>
          </p:cNvSpPr>
          <p:nvPr/>
        </p:nvSpPr>
        <p:spPr>
          <a:xfrm xmlns:a="http://schemas.openxmlformats.org/drawingml/2006/main">
            <a:off x="609600" y="58102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A4B4C8"/>
                </a:solidFill>
                <a:latin typeface="Microsoft YaHei"/>
                <a:ea typeface="Microsoft YaHei"/>
                <a:cs typeface="Microsoft YaHei"/>
              </a:defRPr>
            </a:pPr>
            <a:r>
              <a:rPr sz="1725" b="0">
                <a:solidFill>
                  <a:srgbClr val="A4B4C8"/>
                </a:solidFill>
                <a:latin typeface="Microsoft YaHei"/>
                <a:ea typeface="Microsoft YaHei"/>
                <a:cs typeface="Microsoft YaHei"/>
              </a:rPr>
              <a:t>Start: run. Pause: stop. Next Step: one event. Reset: a new scenario.</a:t>
            </a:r>
          </a:p>
        </p:txBody>
      </p:sp>
    </p:spTree>
    <p:extLst>
      <p:ext uri="{BB962C8B-B14F-4D97-AF65-F5344CB8AC3E}">
        <p14:creationId xmlns:p14="http://schemas.microsoft.com/office/powerpoint/2010/main" val="2049137463"/>
      </p:ext>
    </p:extLst>
  </p:cSld>
</p:sld>
</file>

<file path=ppt/slides/slide24.xml><?xml version="1.0" encoding="utf-8"?>
<p:sld xmlns:p="http://schemas.openxmlformats.org/presentationml/2006/main">
  <p:cSld>
    <p:bg>
      <p:bgPr>
        <a:solidFill xmlns:a="http://schemas.openxmlformats.org/drawingml/2006/main">
          <a:srgbClr val="0D13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A63527-5698-42A5-ACEC-E81CD4B0ACF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8EEF6"/>
                </a:solidFill>
                <a:latin typeface="Microsoft YaHei"/>
                <a:ea typeface="Microsoft YaHei"/>
                <a:cs typeface="Microsoft YaHei"/>
              </a:defRPr>
            </a:pPr>
            <a:r>
              <a:rPr sz="3225" b="1">
                <a:solidFill>
                  <a:srgbClr val="E8EEF6"/>
                </a:solidFill>
                <a:latin typeface="Microsoft YaHei"/>
                <a:ea typeface="Microsoft YaHei"/>
                <a:cs typeface="Microsoft YaHei"/>
              </a:rPr>
              <a:t>Protocol Recap</a:t>
            </a:r>
          </a:p>
        </p:txBody>
      </p:sp>
      <p:sp>
        <p:nvSpPr>
          <p:cNvPr id="2" name="">
            <a:extLst xmlns:a="http://schemas.openxmlformats.org/drawingml/2006/main">
              <a:ext uri="{FF2B5EF4-FFF2-40B4-BE49-F238E27FC236}">
                <a16:creationId xmlns:a16="http://schemas.microsoft.com/office/drawing/2014/main" id="{F51128E1-29D9-4FBF-B198-B9B4959DB977}"/>
              </a:ext>
            </a:extLst>
          </p:cNvPr>
          <p:cNvSpPr>
            <a:spLocks xmlns:a="http://schemas.openxmlformats.org/drawingml/2006/main" noGrp="1"/>
          </p:cNvSpPr>
          <p:nvPr/>
        </p:nvSpPr>
        <p:spPr>
          <a:xfrm xmlns:a="http://schemas.openxmlformats.org/drawingml/2006/main">
            <a:off x="609600" y="6419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HotStuff / Protocol</a:t>
            </a:r>
          </a:p>
        </p:txBody>
      </p:sp>
      <p:sp>
        <p:nvSpPr>
          <p:cNvPr id="3" name="">
            <a:extLst xmlns:a="http://schemas.openxmlformats.org/drawingml/2006/main">
              <a:ext uri="{FF2B5EF4-FFF2-40B4-BE49-F238E27FC236}">
                <a16:creationId xmlns:a16="http://schemas.microsoft.com/office/drawing/2014/main" id="{CAA20AB5-FDDB-4EED-87A5-E47B7E2EC04A}"/>
              </a:ext>
            </a:extLst>
          </p:cNvPr>
          <p:cNvSpPr>
            <a:spLocks xmlns:a="http://schemas.openxmlformats.org/drawingml/2006/main" noGrp="1"/>
          </p:cNvSpPr>
          <p:nvPr/>
        </p:nvSpPr>
        <p:spPr>
          <a:xfrm xmlns:a="http://schemas.openxmlformats.org/drawingml/2006/main">
            <a:off x="10953750" y="64198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A4B4C8"/>
                </a:solidFill>
                <a:latin typeface="Microsoft YaHei"/>
                <a:ea typeface="Microsoft YaHei"/>
                <a:cs typeface="Microsoft YaHei"/>
              </a:defRPr>
            </a:pPr>
            <a:r>
              <a:rPr sz="1200" b="0">
                <a:solidFill>
                  <a:srgbClr val="A4B4C8"/>
                </a:solidFill>
                <a:latin typeface="Microsoft YaHei"/>
                <a:ea typeface="Microsoft YaHei"/>
                <a:cs typeface="Microsoft YaHei"/>
              </a:rPr>
              <a:t>24</a:t>
            </a:r>
          </a:p>
        </p:txBody>
      </p:sp>
      <p:sp>
        <p:nvSpPr>
          <p:cNvPr id="4" name="">
            <a:extLst xmlns:a="http://schemas.openxmlformats.org/drawingml/2006/main">
              <a:ext uri="{FF2B5EF4-FFF2-40B4-BE49-F238E27FC236}">
                <a16:creationId xmlns:a16="http://schemas.microsoft.com/office/drawing/2014/main" id="{6468A238-A5EA-40CD-BAE2-D2008F90BDC3}"/>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QC certifies, a lock constrains votes, and commit finalizes</a:t>
            </a:r>
          </a:p>
        </p:txBody>
      </p:sp>
      <p:sp>
        <p:nvSpPr>
          <p:cNvPr id="5" name="">
            <a:extLst xmlns:a="http://schemas.openxmlformats.org/drawingml/2006/main">
              <a:ext uri="{FF2B5EF4-FFF2-40B4-BE49-F238E27FC236}">
                <a16:creationId xmlns:a16="http://schemas.microsoft.com/office/drawing/2014/main" id="{050BDD7D-846E-4EAF-B0A4-D75D505A3DFB}"/>
              </a:ext>
            </a:extLst>
          </p:cNvPr>
          <p:cNvSpPr>
            <a:spLocks xmlns:a="http://schemas.openxmlformats.org/drawingml/2006/main" noGrp="1"/>
          </p:cNvSpPr>
          <p:nvPr/>
        </p:nvSpPr>
        <p:spPr>
          <a:xfrm xmlns:a="http://schemas.openxmlformats.org/drawingml/2006/main">
            <a:off x="609600" y="1981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These are distinct protocol states.</a:t>
            </a:r>
          </a:p>
        </p:txBody>
      </p:sp>
      <p:sp>
        <p:nvSpPr>
          <p:cNvPr id="6" name="">
            <a:extLst xmlns:a="http://schemas.openxmlformats.org/drawingml/2006/main">
              <a:ext uri="{FF2B5EF4-FFF2-40B4-BE49-F238E27FC236}">
                <a16:creationId xmlns:a16="http://schemas.microsoft.com/office/drawing/2014/main" id="{56F94134-E232-4393-A5C9-30E1D8836AF6}"/>
              </a:ext>
            </a:extLst>
          </p:cNvPr>
          <p:cNvSpPr>
            <a:spLocks xmlns:a="http://schemas.openxmlformats.org/drawingml/2006/main" noGrp="1"/>
          </p:cNvSpPr>
          <p:nvPr/>
        </p:nvSpPr>
        <p:spPr>
          <a:xfrm xmlns:a="http://schemas.openxmlformats.org/drawingml/2006/main">
            <a:off x="609600" y="2790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View changes retain evidence and preserve the quorum</a:t>
            </a:r>
          </a:p>
        </p:txBody>
      </p:sp>
      <p:sp>
        <p:nvSpPr>
          <p:cNvPr id="7" name="">
            <a:extLst xmlns:a="http://schemas.openxmlformats.org/drawingml/2006/main">
              <a:ext uri="{FF2B5EF4-FFF2-40B4-BE49-F238E27FC236}">
                <a16:creationId xmlns:a16="http://schemas.microsoft.com/office/drawing/2014/main" id="{873D5B73-0B78-4BF1-92D6-4391E61ABA56}"/>
              </a:ext>
            </a:extLst>
          </p:cNvPr>
          <p:cNvSpPr>
            <a:spLocks xmlns:a="http://schemas.openxmlformats.org/drawingml/2006/main" noGrp="1"/>
          </p:cNvSpPr>
          <p:nvPr/>
        </p:nvSpPr>
        <p:spPr>
          <a:xfrm xmlns:a="http://schemas.openxmlformats.org/drawingml/2006/main">
            <a:off x="609600" y="32194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HighQC guides extension. The threshold remains three votes.</a:t>
            </a:r>
          </a:p>
        </p:txBody>
      </p:sp>
      <p:sp>
        <p:nvSpPr>
          <p:cNvPr id="8" name="">
            <a:extLst xmlns:a="http://schemas.openxmlformats.org/drawingml/2006/main">
              <a:ext uri="{FF2B5EF4-FFF2-40B4-BE49-F238E27FC236}">
                <a16:creationId xmlns:a16="http://schemas.microsoft.com/office/drawing/2014/main" id="{9634052D-2E30-41C8-A106-C5AECF17DDE8}"/>
              </a:ext>
            </a:extLst>
          </p:cNvPr>
          <p:cNvSpPr>
            <a:spLocks xmlns:a="http://schemas.openxmlformats.org/drawingml/2006/main" noGrp="1"/>
          </p:cNvSpPr>
          <p:nvPr/>
        </p:nvSpPr>
        <p:spPr>
          <a:xfrm xmlns:a="http://schemas.openxmlformats.org/drawingml/2006/main">
            <a:off x="609600" y="40290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87B7FF"/>
                </a:solidFill>
                <a:latin typeface="Microsoft YaHei"/>
                <a:ea typeface="Microsoft YaHei"/>
                <a:cs typeface="Microsoft YaHei"/>
              </a:defRPr>
            </a:pPr>
            <a:r>
              <a:rPr sz="2175" b="1">
                <a:solidFill>
                  <a:srgbClr val="87B7FF"/>
                </a:solidFill>
                <a:latin typeface="Microsoft YaHei"/>
                <a:ea typeface="Microsoft YaHei"/>
                <a:cs typeface="Microsoft YaHei"/>
              </a:rPr>
              <a:t>The three-chain uses successor evidence to finalize an ancestor</a:t>
            </a:r>
          </a:p>
        </p:txBody>
      </p:sp>
      <p:sp>
        <p:nvSpPr>
          <p:cNvPr id="9" name="">
            <a:extLst xmlns:a="http://schemas.openxmlformats.org/drawingml/2006/main">
              <a:ext uri="{FF2B5EF4-FFF2-40B4-BE49-F238E27FC236}">
                <a16:creationId xmlns:a16="http://schemas.microsoft.com/office/drawing/2014/main" id="{C479DF83-88E1-4700-939F-58391D8A105D}"/>
              </a:ext>
            </a:extLst>
          </p:cNvPr>
          <p:cNvSpPr>
            <a:spLocks xmlns:a="http://schemas.openxmlformats.org/drawingml/2006/main" noGrp="1"/>
          </p:cNvSpPr>
          <p:nvPr/>
        </p:nvSpPr>
        <p:spPr>
          <a:xfrm xmlns:a="http://schemas.openxmlformats.org/drawingml/2006/main">
            <a:off x="609600" y="445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E8EEF6"/>
                </a:solidFill>
                <a:latin typeface="Microsoft YaHei"/>
                <a:ea typeface="Microsoft YaHei"/>
                <a:cs typeface="Microsoft YaHei"/>
              </a:defRPr>
            </a:pPr>
            <a:r>
              <a:rPr sz="1875" b="0">
                <a:solidFill>
                  <a:srgbClr val="E8EEF6"/>
                </a:solidFill>
                <a:latin typeface="Microsoft YaHei"/>
                <a:ea typeface="Microsoft YaHei"/>
                <a:cs typeface="Microsoft YaHei"/>
              </a:rPr>
              <a:t>STEP 20 shows the first new commit in the normal run.</a:t>
            </a:r>
          </a:p>
        </p:txBody>
      </p:sp>
      <p:sp>
        <p:nvSpPr>
          <p:cNvPr id="10" name="">
            <a:extLst xmlns:a="http://schemas.openxmlformats.org/drawingml/2006/main">
              <a:ext uri="{FF2B5EF4-FFF2-40B4-BE49-F238E27FC236}">
                <a16:creationId xmlns:a16="http://schemas.microsoft.com/office/drawing/2014/main" id="{294B1F9D-E28D-417C-9CC3-7E0AF2C644C1}"/>
              </a:ext>
            </a:extLst>
          </p:cNvPr>
          <p:cNvSpPr>
            <a:spLocks xmlns:a="http://schemas.openxmlformats.org/drawingml/2006/main" noGrp="1"/>
          </p:cNvSpPr>
          <p:nvPr/>
        </p:nvSpPr>
        <p:spPr>
          <a:xfrm xmlns:a="http://schemas.openxmlformats.org/drawingml/2006/main">
            <a:off x="609600" y="57435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4B4C8"/>
                </a:solidFill>
                <a:latin typeface="Microsoft YaHei"/>
                <a:ea typeface="Microsoft YaHei"/>
                <a:cs typeface="Microsoft YaHei"/>
              </a:defRPr>
            </a:pPr>
            <a:r>
              <a:rPr sz="1650" b="0">
                <a:solidFill>
                  <a:srgbClr val="A4B4C8"/>
                </a:solidFill>
                <a:latin typeface="Microsoft YaHei"/>
                <a:ea typeface="Microsoft YaHei"/>
                <a:cs typeface="Microsoft YaHei"/>
              </a:rPr>
              <a:t>References: HotStuff, PODC 2019, Sections 3–6. Project node.py and hotstuff.py.</a:t>
            </a:r>
          </a:p>
        </p:txBody>
      </p:sp>
    </p:spTree>
    <p:extLst>
      <p:ext uri="{BB962C8B-B14F-4D97-AF65-F5344CB8AC3E}">
        <p14:creationId xmlns:p14="http://schemas.microsoft.com/office/powerpoint/2010/main" val="1043824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2026-09-21T02:57:52.1700000Z</dcterms:created>
  <dcterms:modified xsi:type="dcterms:W3CDTF">2026-09-21T02:57:52.1700000Z</dcterms:modified>
</coreProperties>
</file>